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F1F1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F1F1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F1F1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F1F1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312" y="527049"/>
            <a:ext cx="15442824" cy="19175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F1F1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775" y="4385733"/>
            <a:ext cx="7781290" cy="451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Relationship Id="rId9" Type="http://schemas.openxmlformats.org/officeDocument/2006/relationships/image" Target="../media/image26.jpg"/><Relationship Id="rId10" Type="http://schemas.openxmlformats.org/officeDocument/2006/relationships/image" Target="../media/image27.jpg"/><Relationship Id="rId11" Type="http://schemas.openxmlformats.org/officeDocument/2006/relationships/image" Target="../media/image28.jpg"/><Relationship Id="rId12" Type="http://schemas.openxmlformats.org/officeDocument/2006/relationships/image" Target="../media/image29.jpg"/><Relationship Id="rId13" Type="http://schemas.openxmlformats.org/officeDocument/2006/relationships/image" Target="../media/image30.jpg"/><Relationship Id="rId14" Type="http://schemas.openxmlformats.org/officeDocument/2006/relationships/image" Target="../media/image31.jpg"/><Relationship Id="rId15" Type="http://schemas.openxmlformats.org/officeDocument/2006/relationships/image" Target="../media/image32.png"/><Relationship Id="rId16" Type="http://schemas.openxmlformats.org/officeDocument/2006/relationships/image" Target="../media/image33.jpg"/><Relationship Id="rId17" Type="http://schemas.openxmlformats.org/officeDocument/2006/relationships/image" Target="../media/image34.jpg"/><Relationship Id="rId18" Type="http://schemas.openxmlformats.org/officeDocument/2006/relationships/image" Target="../media/image3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Relationship Id="rId4" Type="http://schemas.openxmlformats.org/officeDocument/2006/relationships/image" Target="../media/image48.jpg"/><Relationship Id="rId5" Type="http://schemas.openxmlformats.org/officeDocument/2006/relationships/image" Target="../media/image49.png"/><Relationship Id="rId6" Type="http://schemas.openxmlformats.org/officeDocument/2006/relationships/image" Target="../media/image5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6100" y="3975100"/>
            <a:ext cx="1143000" cy="520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1500" y="939800"/>
            <a:ext cx="8496300" cy="7861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7593" y="2122663"/>
            <a:ext cx="6670675" cy="2387600"/>
          </a:xfrm>
          <a:prstGeom prst="rect"/>
        </p:spPr>
        <p:txBody>
          <a:bodyPr wrap="square" lIns="0" tIns="99695" rIns="0" bIns="0" rtlCol="0" vert="horz">
            <a:spAutoFit/>
          </a:bodyPr>
          <a:lstStyle/>
          <a:p>
            <a:pPr marL="12700" marR="5080">
              <a:lnSpc>
                <a:spcPts val="6000"/>
              </a:lnSpc>
              <a:spcBef>
                <a:spcPts val="785"/>
              </a:spcBef>
              <a:tabLst>
                <a:tab pos="4952365" algn="l"/>
              </a:tabLst>
            </a:pPr>
            <a:r>
              <a:rPr dirty="0" sz="5450" spc="90">
                <a:solidFill>
                  <a:srgbClr val="181818"/>
                </a:solidFill>
              </a:rPr>
              <a:t>What</a:t>
            </a:r>
            <a:r>
              <a:rPr dirty="0" sz="5450" spc="-60">
                <a:solidFill>
                  <a:srgbClr val="181818"/>
                </a:solidFill>
              </a:rPr>
              <a:t> </a:t>
            </a:r>
            <a:r>
              <a:rPr dirty="0" sz="5450">
                <a:solidFill>
                  <a:srgbClr val="1C1C1C"/>
                </a:solidFill>
              </a:rPr>
              <a:t>if</a:t>
            </a:r>
            <a:r>
              <a:rPr dirty="0" sz="5450" spc="370">
                <a:solidFill>
                  <a:srgbClr val="1C1C1C"/>
                </a:solidFill>
              </a:rPr>
              <a:t> </a:t>
            </a:r>
            <a:r>
              <a:rPr dirty="0" sz="5450" spc="195">
                <a:solidFill>
                  <a:srgbClr val="1A1A1A"/>
                </a:solidFill>
              </a:rPr>
              <a:t>the</a:t>
            </a:r>
            <a:r>
              <a:rPr dirty="0" sz="5450" spc="-390">
                <a:solidFill>
                  <a:srgbClr val="1A1A1A"/>
                </a:solidFill>
              </a:rPr>
              <a:t> </a:t>
            </a:r>
            <a:r>
              <a:rPr dirty="0" sz="5450" spc="85">
                <a:solidFill>
                  <a:srgbClr val="1A1A1A"/>
                </a:solidFill>
              </a:rPr>
              <a:t>real </a:t>
            </a:r>
            <a:r>
              <a:rPr dirty="0" sz="5550" spc="180">
                <a:solidFill>
                  <a:srgbClr val="1A1A1A"/>
                </a:solidFill>
              </a:rPr>
              <a:t>world</a:t>
            </a:r>
            <a:r>
              <a:rPr dirty="0" sz="5550" spc="-140">
                <a:solidFill>
                  <a:srgbClr val="1A1A1A"/>
                </a:solidFill>
              </a:rPr>
              <a:t> </a:t>
            </a:r>
            <a:r>
              <a:rPr dirty="0" sz="5550" spc="95">
                <a:solidFill>
                  <a:srgbClr val="181818"/>
                </a:solidFill>
              </a:rPr>
              <a:t>was</a:t>
            </a:r>
            <a:r>
              <a:rPr dirty="0" sz="5550" spc="-360">
                <a:solidFill>
                  <a:srgbClr val="181818"/>
                </a:solidFill>
              </a:rPr>
              <a:t> </a:t>
            </a:r>
            <a:r>
              <a:rPr dirty="0" sz="5550" spc="175">
                <a:solidFill>
                  <a:srgbClr val="181818"/>
                </a:solidFill>
              </a:rPr>
              <a:t>not</a:t>
            </a:r>
            <a:r>
              <a:rPr dirty="0" sz="5550" spc="35">
                <a:solidFill>
                  <a:srgbClr val="181818"/>
                </a:solidFill>
              </a:rPr>
              <a:t> </a:t>
            </a:r>
            <a:r>
              <a:rPr dirty="0" sz="5550" spc="100">
                <a:solidFill>
                  <a:srgbClr val="181818"/>
                </a:solidFill>
              </a:rPr>
              <a:t>just </a:t>
            </a:r>
            <a:r>
              <a:rPr dirty="0" sz="5550" spc="125">
                <a:solidFill>
                  <a:srgbClr val="181818"/>
                </a:solidFill>
              </a:rPr>
              <a:t>something</a:t>
            </a:r>
            <a:r>
              <a:rPr dirty="0" sz="5550">
                <a:solidFill>
                  <a:srgbClr val="181818"/>
                </a:solidFill>
              </a:rPr>
              <a:t>	</a:t>
            </a:r>
            <a:r>
              <a:rPr dirty="0" sz="5550" spc="-35">
                <a:solidFill>
                  <a:srgbClr val="181818"/>
                </a:solidFill>
              </a:rPr>
              <a:t>see...</a:t>
            </a:r>
            <a:endParaRPr sz="5550"/>
          </a:p>
        </p:txBody>
      </p:sp>
      <p:sp>
        <p:nvSpPr>
          <p:cNvPr id="6" name="object 6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9418" y="4837994"/>
            <a:ext cx="6649720" cy="28321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290">
              <a:lnSpc>
                <a:spcPts val="3504"/>
              </a:lnSpc>
              <a:spcBef>
                <a:spcPts val="105"/>
              </a:spcBef>
            </a:pPr>
            <a:r>
              <a:rPr dirty="0" sz="3050">
                <a:latin typeface="Cambria"/>
                <a:cs typeface="Cambria"/>
              </a:rPr>
              <a:t>...but </a:t>
            </a:r>
            <a:r>
              <a:rPr dirty="0" sz="3050" spc="-30">
                <a:latin typeface="Cambria"/>
                <a:cs typeface="Cambria"/>
              </a:rPr>
              <a:t>something</a:t>
            </a:r>
            <a:r>
              <a:rPr dirty="0" sz="3050" spc="125">
                <a:latin typeface="Cambria"/>
                <a:cs typeface="Cambria"/>
              </a:rPr>
              <a:t> </a:t>
            </a:r>
            <a:r>
              <a:rPr dirty="0" sz="3050" spc="-120">
                <a:latin typeface="Cambria"/>
                <a:cs typeface="Cambria"/>
              </a:rPr>
              <a:t>you</a:t>
            </a:r>
            <a:r>
              <a:rPr dirty="0" sz="3050" spc="-60">
                <a:latin typeface="Cambria"/>
                <a:cs typeface="Cambria"/>
              </a:rPr>
              <a:t> </a:t>
            </a:r>
            <a:r>
              <a:rPr dirty="0" sz="3050">
                <a:latin typeface="Cambria"/>
                <a:cs typeface="Cambria"/>
              </a:rPr>
              <a:t>could</a:t>
            </a:r>
            <a:r>
              <a:rPr dirty="0" sz="3050" spc="114">
                <a:latin typeface="Cambria"/>
                <a:cs typeface="Cambria"/>
              </a:rPr>
              <a:t> </a:t>
            </a:r>
            <a:r>
              <a:rPr dirty="0" sz="3050" spc="-20">
                <a:latin typeface="Cambria"/>
                <a:cs typeface="Cambria"/>
              </a:rPr>
              <a:t>build,</a:t>
            </a:r>
            <a:r>
              <a:rPr dirty="0" sz="3050" spc="-5">
                <a:latin typeface="Cambria"/>
                <a:cs typeface="Cambria"/>
              </a:rPr>
              <a:t> </a:t>
            </a:r>
            <a:r>
              <a:rPr dirty="0" sz="3050" spc="-10">
                <a:latin typeface="Cambria"/>
                <a:cs typeface="Cambria"/>
              </a:rPr>
              <a:t>shape,</a:t>
            </a:r>
            <a:endParaRPr sz="3050">
              <a:latin typeface="Cambria"/>
              <a:cs typeface="Cambria"/>
            </a:endParaRPr>
          </a:p>
          <a:p>
            <a:pPr marL="26670">
              <a:lnSpc>
                <a:spcPts val="3504"/>
              </a:lnSpc>
            </a:pPr>
            <a:r>
              <a:rPr dirty="0" sz="3100" spc="-85">
                <a:latin typeface="Cambria"/>
                <a:cs typeface="Cambria"/>
              </a:rPr>
              <a:t>and</a:t>
            </a:r>
            <a:r>
              <a:rPr dirty="0" sz="3100" spc="-90">
                <a:latin typeface="Cambria"/>
                <a:cs typeface="Cambria"/>
              </a:rPr>
              <a:t> </a:t>
            </a:r>
            <a:r>
              <a:rPr dirty="0" sz="3100" spc="-65">
                <a:latin typeface="Cambria"/>
                <a:cs typeface="Cambria"/>
              </a:rPr>
              <a:t>compete</a:t>
            </a:r>
            <a:r>
              <a:rPr dirty="0" sz="3100" spc="-75">
                <a:latin typeface="Cambria"/>
                <a:cs typeface="Cambria"/>
              </a:rPr>
              <a:t> </a:t>
            </a:r>
            <a:r>
              <a:rPr dirty="0" sz="3100" spc="-25">
                <a:latin typeface="Cambria"/>
                <a:cs typeface="Cambria"/>
              </a:rPr>
              <a:t>in?</a:t>
            </a:r>
            <a:endParaRPr sz="3100">
              <a:latin typeface="Cambria"/>
              <a:cs typeface="Cambria"/>
            </a:endParaRPr>
          </a:p>
          <a:p>
            <a:pPr marL="12700" marR="5080" indent="15875">
              <a:lnSpc>
                <a:spcPts val="3000"/>
              </a:lnSpc>
              <a:spcBef>
                <a:spcPts val="140"/>
              </a:spcBef>
            </a:pPr>
            <a:r>
              <a:rPr dirty="0" sz="2600" spc="-10">
                <a:latin typeface="Cambria"/>
                <a:cs typeface="Cambria"/>
              </a:rPr>
              <a:t>AR</a:t>
            </a:r>
            <a:r>
              <a:rPr dirty="0" sz="2600" spc="-130">
                <a:latin typeface="Cambria"/>
                <a:cs typeface="Cambria"/>
              </a:rPr>
              <a:t> </a:t>
            </a:r>
            <a:r>
              <a:rPr dirty="0" sz="2600" spc="-50">
                <a:latin typeface="Cambria"/>
                <a:cs typeface="Cambria"/>
              </a:rPr>
              <a:t>World</a:t>
            </a:r>
            <a:r>
              <a:rPr dirty="0" sz="2600" spc="-6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Builder</a:t>
            </a:r>
            <a:r>
              <a:rPr dirty="0" sz="2600" spc="2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turns</a:t>
            </a:r>
            <a:r>
              <a:rPr dirty="0" sz="2600" spc="-45">
                <a:latin typeface="Cambria"/>
                <a:cs typeface="Cambria"/>
              </a:rPr>
              <a:t> </a:t>
            </a:r>
            <a:r>
              <a:rPr dirty="0" sz="2600" spc="-25">
                <a:latin typeface="Cambria"/>
                <a:cs typeface="Cambria"/>
              </a:rPr>
              <a:t>real</a:t>
            </a:r>
            <a:r>
              <a:rPr dirty="0" sz="2600" spc="-12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places</a:t>
            </a:r>
            <a:r>
              <a:rPr dirty="0" sz="2600" spc="-60">
                <a:latin typeface="Cambria"/>
                <a:cs typeface="Cambria"/>
              </a:rPr>
              <a:t> </a:t>
            </a:r>
            <a:r>
              <a:rPr dirty="0" sz="2600" spc="-30">
                <a:latin typeface="Cambria"/>
                <a:cs typeface="Cambria"/>
              </a:rPr>
              <a:t>into</a:t>
            </a:r>
            <a:r>
              <a:rPr dirty="0" sz="2600" spc="-110">
                <a:latin typeface="Cambria"/>
                <a:cs typeface="Cambria"/>
              </a:rPr>
              <a:t> </a:t>
            </a:r>
            <a:r>
              <a:rPr dirty="0" sz="2600" spc="-50">
                <a:latin typeface="Cambria"/>
                <a:cs typeface="Cambria"/>
              </a:rPr>
              <a:t>a </a:t>
            </a:r>
            <a:r>
              <a:rPr dirty="0" sz="2600">
                <a:latin typeface="Cambria"/>
                <a:cs typeface="Cambria"/>
              </a:rPr>
              <a:t>shared,</a:t>
            </a:r>
            <a:r>
              <a:rPr dirty="0" sz="2600" spc="-80">
                <a:latin typeface="Cambria"/>
                <a:cs typeface="Cambria"/>
              </a:rPr>
              <a:t> </a:t>
            </a:r>
            <a:r>
              <a:rPr dirty="0" sz="2600" spc="-40">
                <a:latin typeface="Cambria"/>
                <a:cs typeface="Cambria"/>
              </a:rPr>
              <a:t>persistent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digital</a:t>
            </a:r>
            <a:r>
              <a:rPr dirty="0" sz="2600" spc="-130">
                <a:latin typeface="Cambria"/>
                <a:cs typeface="Cambria"/>
              </a:rPr>
              <a:t> </a:t>
            </a:r>
            <a:r>
              <a:rPr dirty="0" sz="2600" spc="-50">
                <a:latin typeface="Cambria"/>
                <a:cs typeface="Cambria"/>
              </a:rPr>
              <a:t>world.</a:t>
            </a:r>
            <a:r>
              <a:rPr dirty="0" sz="2600" spc="-9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Every</a:t>
            </a:r>
            <a:r>
              <a:rPr dirty="0" sz="2600" spc="-3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user</a:t>
            </a:r>
            <a:r>
              <a:rPr dirty="0" sz="2600" spc="-95">
                <a:latin typeface="Cambria"/>
                <a:cs typeface="Cambria"/>
              </a:rPr>
              <a:t> </a:t>
            </a:r>
            <a:r>
              <a:rPr dirty="0" sz="2600" spc="-20">
                <a:latin typeface="Cambria"/>
                <a:cs typeface="Cambria"/>
              </a:rPr>
              <a:t>sees </a:t>
            </a:r>
            <a:r>
              <a:rPr dirty="0" sz="2600">
                <a:latin typeface="Cambria"/>
                <a:cs typeface="Cambria"/>
              </a:rPr>
              <a:t>and</a:t>
            </a:r>
            <a:r>
              <a:rPr dirty="0" sz="2600" spc="-14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interacts</a:t>
            </a:r>
            <a:r>
              <a:rPr dirty="0" sz="2600" spc="-15">
                <a:latin typeface="Cambria"/>
                <a:cs typeface="Cambria"/>
              </a:rPr>
              <a:t> </a:t>
            </a:r>
            <a:r>
              <a:rPr dirty="0" sz="2600" spc="-40">
                <a:latin typeface="Cambria"/>
                <a:cs typeface="Cambria"/>
              </a:rPr>
              <a:t>with</a:t>
            </a:r>
            <a:r>
              <a:rPr dirty="0" sz="2600" spc="-5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the</a:t>
            </a:r>
            <a:r>
              <a:rPr dirty="0" sz="2600" spc="-13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same</a:t>
            </a:r>
            <a:r>
              <a:rPr dirty="0" sz="2600" spc="-110">
                <a:latin typeface="Cambria"/>
                <a:cs typeface="Cambria"/>
              </a:rPr>
              <a:t> </a:t>
            </a:r>
            <a:r>
              <a:rPr dirty="0" sz="2600" spc="-20">
                <a:latin typeface="Cambria"/>
                <a:cs typeface="Cambria"/>
              </a:rPr>
              <a:t>digital</a:t>
            </a:r>
            <a:r>
              <a:rPr dirty="0" sz="2600" spc="-4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layer, </a:t>
            </a:r>
            <a:r>
              <a:rPr dirty="0" sz="2600">
                <a:latin typeface="Cambria"/>
                <a:cs typeface="Cambria"/>
              </a:rPr>
              <a:t>creating</a:t>
            </a:r>
            <a:r>
              <a:rPr dirty="0" sz="2600" spc="-6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a</a:t>
            </a:r>
            <a:r>
              <a:rPr dirty="0" sz="2600" spc="-105">
                <a:latin typeface="Cambria"/>
                <a:cs typeface="Cambria"/>
              </a:rPr>
              <a:t> </a:t>
            </a:r>
            <a:r>
              <a:rPr dirty="0" sz="2600" spc="-25">
                <a:latin typeface="Cambria"/>
                <a:cs typeface="Cambria"/>
              </a:rPr>
              <a:t>collective</a:t>
            </a:r>
            <a:r>
              <a:rPr dirty="0" sz="2600">
                <a:latin typeface="Cambria"/>
                <a:cs typeface="Cambria"/>
              </a:rPr>
              <a:t> </a:t>
            </a:r>
            <a:r>
              <a:rPr dirty="0" sz="2600" spc="-20">
                <a:latin typeface="Cambria"/>
                <a:cs typeface="Cambria"/>
              </a:rPr>
              <a:t>experience</a:t>
            </a:r>
            <a:r>
              <a:rPr dirty="0" sz="2600" spc="65">
                <a:latin typeface="Cambria"/>
                <a:cs typeface="Cambria"/>
              </a:rPr>
              <a:t> </a:t>
            </a:r>
            <a:r>
              <a:rPr dirty="0" sz="2600" spc="-20">
                <a:latin typeface="Cambria"/>
                <a:cs typeface="Cambria"/>
              </a:rPr>
              <a:t>tied</a:t>
            </a:r>
            <a:r>
              <a:rPr dirty="0" sz="2600" spc="15">
                <a:latin typeface="Cambria"/>
                <a:cs typeface="Cambria"/>
              </a:rPr>
              <a:t> </a:t>
            </a:r>
            <a:r>
              <a:rPr dirty="0" sz="2600" spc="-50">
                <a:latin typeface="Cambria"/>
                <a:cs typeface="Cambria"/>
              </a:rPr>
              <a:t>to</a:t>
            </a:r>
            <a:r>
              <a:rPr dirty="0" sz="2600" spc="-9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physical </a:t>
            </a:r>
            <a:r>
              <a:rPr dirty="0" sz="2700" spc="-10">
                <a:latin typeface="Cambria"/>
                <a:cs typeface="Cambria"/>
              </a:rPr>
              <a:t>locations.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300" y="2628900"/>
            <a:ext cx="8674100" cy="6477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31800" y="3175000"/>
            <a:ext cx="1866900" cy="1638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838200"/>
            <a:ext cx="17475200" cy="5080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3157200" y="4912783"/>
            <a:ext cx="1718945" cy="0"/>
          </a:xfrm>
          <a:custGeom>
            <a:avLst/>
            <a:gdLst/>
            <a:ahLst/>
            <a:cxnLst/>
            <a:rect l="l" t="t" r="r" b="b"/>
            <a:pathLst>
              <a:path w="1718944" h="0">
                <a:moveTo>
                  <a:pt x="0" y="0"/>
                </a:moveTo>
                <a:lnTo>
                  <a:pt x="1718733" y="0"/>
                </a:lnTo>
              </a:path>
            </a:pathLst>
          </a:custGeom>
          <a:ln w="4233">
            <a:solidFill>
              <a:srgbClr val="A3775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52200" y="6159500"/>
            <a:ext cx="12700" cy="6731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1906" rIns="0" bIns="0" rtlCol="0" vert="horz">
            <a:spAutoFit/>
          </a:bodyPr>
          <a:lstStyle/>
          <a:p>
            <a:pPr marL="1348740">
              <a:lnSpc>
                <a:spcPct val="100000"/>
              </a:lnSpc>
              <a:spcBef>
                <a:spcPts val="135"/>
              </a:spcBef>
            </a:pPr>
            <a:r>
              <a:rPr dirty="0" sz="5100" spc="110">
                <a:solidFill>
                  <a:srgbClr val="181818"/>
                </a:solidFill>
              </a:rPr>
              <a:t>Blocks:</a:t>
            </a:r>
            <a:r>
              <a:rPr dirty="0" sz="5100" spc="-15">
                <a:solidFill>
                  <a:srgbClr val="181818"/>
                </a:solidFill>
              </a:rPr>
              <a:t> </a:t>
            </a:r>
            <a:r>
              <a:rPr dirty="0" sz="5100" spc="80"/>
              <a:t>The</a:t>
            </a:r>
            <a:r>
              <a:rPr dirty="0" sz="5100" spc="-325"/>
              <a:t> </a:t>
            </a:r>
            <a:r>
              <a:rPr dirty="0" sz="5100" spc="120">
                <a:solidFill>
                  <a:srgbClr val="1A1A1A"/>
                </a:solidFill>
              </a:rPr>
              <a:t>Foundation</a:t>
            </a:r>
            <a:r>
              <a:rPr dirty="0" sz="5100" spc="60">
                <a:solidFill>
                  <a:srgbClr val="1A1A1A"/>
                </a:solidFill>
              </a:rPr>
              <a:t> </a:t>
            </a:r>
            <a:r>
              <a:rPr dirty="0" sz="5100" spc="145">
                <a:solidFill>
                  <a:srgbClr val="1A1A1A"/>
                </a:solidFill>
              </a:rPr>
              <a:t>of</a:t>
            </a:r>
            <a:r>
              <a:rPr dirty="0" sz="5100" spc="95">
                <a:solidFill>
                  <a:srgbClr val="1A1A1A"/>
                </a:solidFill>
              </a:rPr>
              <a:t> </a:t>
            </a:r>
            <a:r>
              <a:rPr dirty="0" sz="5100" spc="204">
                <a:solidFill>
                  <a:srgbClr val="1A1A1A"/>
                </a:solidFill>
              </a:rPr>
              <a:t>the</a:t>
            </a:r>
            <a:r>
              <a:rPr dirty="0" sz="5100" spc="-229">
                <a:solidFill>
                  <a:srgbClr val="1A1A1A"/>
                </a:solidFill>
              </a:rPr>
              <a:t> </a:t>
            </a:r>
            <a:r>
              <a:rPr dirty="0" sz="5100" spc="75">
                <a:solidFill>
                  <a:srgbClr val="151515"/>
                </a:solidFill>
              </a:rPr>
              <a:t>Shared</a:t>
            </a:r>
            <a:r>
              <a:rPr dirty="0" sz="5100" spc="-95">
                <a:solidFill>
                  <a:srgbClr val="151515"/>
                </a:solidFill>
              </a:rPr>
              <a:t> </a:t>
            </a:r>
            <a:r>
              <a:rPr dirty="0" sz="5100" spc="114">
                <a:solidFill>
                  <a:srgbClr val="1A1A1A"/>
                </a:solidFill>
              </a:rPr>
              <a:t>World</a:t>
            </a:r>
            <a:endParaRPr sz="5100"/>
          </a:p>
        </p:txBody>
      </p:sp>
      <p:sp>
        <p:nvSpPr>
          <p:cNvPr id="12" name="object 12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31621" y="5207562"/>
            <a:ext cx="4413885" cy="109982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ctr" marL="396875">
              <a:lnSpc>
                <a:spcPct val="100000"/>
              </a:lnSpc>
              <a:spcBef>
                <a:spcPts val="695"/>
              </a:spcBef>
            </a:pPr>
            <a:r>
              <a:rPr dirty="0" sz="3650">
                <a:solidFill>
                  <a:srgbClr val="111111"/>
                </a:solidFill>
                <a:latin typeface="Cambria"/>
                <a:cs typeface="Cambria"/>
              </a:rPr>
              <a:t>Place</a:t>
            </a:r>
            <a:r>
              <a:rPr dirty="0" sz="3650" spc="65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dirty="0" sz="3650">
                <a:solidFill>
                  <a:srgbClr val="1C1C1C"/>
                </a:solidFill>
                <a:latin typeface="Cambria"/>
                <a:cs typeface="Cambria"/>
              </a:rPr>
              <a:t>a</a:t>
            </a:r>
            <a:r>
              <a:rPr dirty="0" sz="3650" spc="10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3650" spc="-10">
                <a:solidFill>
                  <a:srgbClr val="0F0F0F"/>
                </a:solidFill>
                <a:latin typeface="Cambria"/>
                <a:cs typeface="Cambria"/>
              </a:rPr>
              <a:t>Block</a:t>
            </a:r>
            <a:endParaRPr sz="3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550" spc="-95">
                <a:latin typeface="Cambria"/>
                <a:cs typeface="Cambria"/>
              </a:rPr>
              <a:t>Rewards</a:t>
            </a:r>
            <a:r>
              <a:rPr dirty="0" sz="2550" spc="-45">
                <a:latin typeface="Cambria"/>
                <a:cs typeface="Cambria"/>
              </a:rPr>
              <a:t> </a:t>
            </a:r>
            <a:r>
              <a:rPr dirty="0" sz="2550" spc="-105">
                <a:latin typeface="Cambria"/>
                <a:cs typeface="Cambria"/>
              </a:rPr>
              <a:t>the</a:t>
            </a:r>
            <a:r>
              <a:rPr dirty="0" sz="2550" spc="-70">
                <a:latin typeface="Cambria"/>
                <a:cs typeface="Cambria"/>
              </a:rPr>
              <a:t> </a:t>
            </a:r>
            <a:r>
              <a:rPr dirty="0" sz="2550" spc="-45">
                <a:latin typeface="Cambria"/>
                <a:cs typeface="Cambria"/>
              </a:rPr>
              <a:t>user </a:t>
            </a:r>
            <a:r>
              <a:rPr dirty="0" sz="2550" spc="-125">
                <a:latin typeface="Cambria"/>
                <a:cs typeface="Cambria"/>
              </a:rPr>
              <a:t>with</a:t>
            </a:r>
            <a:r>
              <a:rPr dirty="0" sz="2550" spc="-65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full</a:t>
            </a:r>
            <a:r>
              <a:rPr dirty="0" sz="2550" spc="-40">
                <a:latin typeface="Cambria"/>
                <a:cs typeface="Cambria"/>
              </a:rPr>
              <a:t> </a:t>
            </a:r>
            <a:r>
              <a:rPr dirty="0" sz="2550" spc="-25">
                <a:latin typeface="Cambria"/>
                <a:cs typeface="Cambria"/>
              </a:rPr>
              <a:t>points.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06275" y="6691841"/>
            <a:ext cx="3319779" cy="819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200" spc="-150">
                <a:solidFill>
                  <a:srgbClr val="1C62DF"/>
                </a:solidFill>
                <a:latin typeface="Arial MT"/>
                <a:cs typeface="Arial MT"/>
              </a:rPr>
              <a:t>+100</a:t>
            </a:r>
            <a:r>
              <a:rPr dirty="0" sz="5200" spc="-400">
                <a:solidFill>
                  <a:srgbClr val="1C62DF"/>
                </a:solidFill>
                <a:latin typeface="Arial MT"/>
                <a:cs typeface="Arial MT"/>
              </a:rPr>
              <a:t> </a:t>
            </a:r>
            <a:r>
              <a:rPr dirty="0" sz="5200" spc="-105">
                <a:solidFill>
                  <a:srgbClr val="1660E9"/>
                </a:solidFill>
                <a:latin typeface="Arial MT"/>
                <a:cs typeface="Arial MT"/>
              </a:rPr>
              <a:t>Points</a:t>
            </a:r>
            <a:endParaRPr sz="52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137623" y="5260139"/>
            <a:ext cx="4712335" cy="2087245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630"/>
              </a:spcBef>
            </a:pPr>
            <a:r>
              <a:rPr dirty="0" sz="3300">
                <a:solidFill>
                  <a:srgbClr val="0C0C0C"/>
                </a:solidFill>
                <a:latin typeface="Arial MT"/>
                <a:cs typeface="Arial MT"/>
              </a:rPr>
              <a:t>Destroy</a:t>
            </a:r>
            <a:r>
              <a:rPr dirty="0" sz="3300" spc="26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300">
                <a:solidFill>
                  <a:srgbClr val="131313"/>
                </a:solidFill>
                <a:latin typeface="Arial MT"/>
                <a:cs typeface="Arial MT"/>
              </a:rPr>
              <a:t>a</a:t>
            </a:r>
            <a:r>
              <a:rPr dirty="0" sz="3300" spc="6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3300" spc="-10">
                <a:solidFill>
                  <a:srgbClr val="111111"/>
                </a:solidFill>
                <a:latin typeface="Arial MT"/>
                <a:cs typeface="Arial MT"/>
              </a:rPr>
              <a:t>Block</a:t>
            </a:r>
            <a:endParaRPr sz="3300">
              <a:latin typeface="Arial MT"/>
              <a:cs typeface="Arial MT"/>
            </a:endParaRPr>
          </a:p>
          <a:p>
            <a:pPr marL="12700" marR="5080" indent="8890">
              <a:lnSpc>
                <a:spcPct val="90600"/>
              </a:lnSpc>
              <a:spcBef>
                <a:spcPts val="735"/>
              </a:spcBef>
            </a:pPr>
            <a:r>
              <a:rPr dirty="0" sz="2600" spc="-135">
                <a:latin typeface="Cambria"/>
                <a:cs typeface="Cambria"/>
              </a:rPr>
              <a:t>Rewards</a:t>
            </a:r>
            <a:r>
              <a:rPr dirty="0" sz="2600" spc="-5">
                <a:latin typeface="Cambria"/>
                <a:cs typeface="Cambria"/>
              </a:rPr>
              <a:t> </a:t>
            </a:r>
            <a:r>
              <a:rPr dirty="0" sz="2600" spc="-95">
                <a:latin typeface="Cambria"/>
                <a:cs typeface="Cambria"/>
              </a:rPr>
              <a:t>the</a:t>
            </a:r>
            <a:r>
              <a:rPr dirty="0" sz="2600" spc="-35">
                <a:latin typeface="Cambria"/>
                <a:cs typeface="Cambria"/>
              </a:rPr>
              <a:t> </a:t>
            </a:r>
            <a:r>
              <a:rPr dirty="0" sz="2600" spc="-70">
                <a:latin typeface="Cambria"/>
                <a:cs typeface="Cambria"/>
              </a:rPr>
              <a:t>user</a:t>
            </a:r>
            <a:r>
              <a:rPr dirty="0" sz="2600" spc="20">
                <a:latin typeface="Cambria"/>
                <a:cs typeface="Cambria"/>
              </a:rPr>
              <a:t> </a:t>
            </a:r>
            <a:r>
              <a:rPr dirty="0" sz="2600" spc="-175">
                <a:latin typeface="Cambria"/>
                <a:cs typeface="Cambria"/>
              </a:rPr>
              <a:t>with</a:t>
            </a:r>
            <a:r>
              <a:rPr dirty="0" sz="2600" spc="25">
                <a:latin typeface="Cambria"/>
                <a:cs typeface="Cambria"/>
              </a:rPr>
              <a:t> </a:t>
            </a:r>
            <a:r>
              <a:rPr dirty="0" sz="2600" spc="-110">
                <a:latin typeface="Cambria"/>
                <a:cs typeface="Cambria"/>
              </a:rPr>
              <a:t>one-</a:t>
            </a:r>
            <a:r>
              <a:rPr dirty="0" sz="2600" spc="-10">
                <a:latin typeface="Cambria"/>
                <a:cs typeface="Cambria"/>
              </a:rPr>
              <a:t>fourth </a:t>
            </a:r>
            <a:r>
              <a:rPr dirty="0" sz="2500">
                <a:latin typeface="Cambria"/>
                <a:cs typeface="Cambria"/>
              </a:rPr>
              <a:t>of</a:t>
            </a:r>
            <a:r>
              <a:rPr dirty="0" sz="2500" spc="-60">
                <a:latin typeface="Cambria"/>
                <a:cs typeface="Cambria"/>
              </a:rPr>
              <a:t> </a:t>
            </a:r>
            <a:r>
              <a:rPr dirty="0" sz="2500" spc="-30">
                <a:latin typeface="Cambria"/>
                <a:cs typeface="Cambria"/>
              </a:rPr>
              <a:t>the</a:t>
            </a:r>
            <a:r>
              <a:rPr dirty="0" sz="2500" spc="-85">
                <a:latin typeface="Cambria"/>
                <a:cs typeface="Cambria"/>
              </a:rPr>
              <a:t> </a:t>
            </a:r>
            <a:r>
              <a:rPr dirty="0" sz="2500" spc="-30">
                <a:latin typeface="Cambria"/>
                <a:cs typeface="Cambria"/>
              </a:rPr>
              <a:t>points. </a:t>
            </a:r>
            <a:r>
              <a:rPr dirty="0" sz="2500" spc="-20">
                <a:latin typeface="Cambria"/>
                <a:cs typeface="Cambria"/>
              </a:rPr>
              <a:t>This</a:t>
            </a:r>
            <a:r>
              <a:rPr dirty="0" sz="2500" spc="-120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simple</a:t>
            </a:r>
            <a:r>
              <a:rPr dirty="0" sz="2500" spc="-5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mechanic </a:t>
            </a:r>
            <a:r>
              <a:rPr dirty="0" sz="2550" spc="-55">
                <a:latin typeface="Cambria"/>
                <a:cs typeface="Cambria"/>
              </a:rPr>
              <a:t>creates</a:t>
            </a:r>
            <a:r>
              <a:rPr dirty="0" sz="2550" spc="-20">
                <a:latin typeface="Cambria"/>
                <a:cs typeface="Cambria"/>
              </a:rPr>
              <a:t> </a:t>
            </a:r>
            <a:r>
              <a:rPr dirty="0" sz="2550" spc="-130">
                <a:latin typeface="Cambria"/>
                <a:cs typeface="Cambria"/>
              </a:rPr>
              <a:t>a</a:t>
            </a:r>
            <a:r>
              <a:rPr dirty="0" sz="2550" spc="-25">
                <a:latin typeface="Cambria"/>
                <a:cs typeface="Cambria"/>
              </a:rPr>
              <a:t> </a:t>
            </a:r>
            <a:r>
              <a:rPr dirty="0" sz="2550" spc="-45">
                <a:latin typeface="Cambria"/>
                <a:cs typeface="Cambria"/>
              </a:rPr>
              <a:t>constant,</a:t>
            </a:r>
            <a:r>
              <a:rPr dirty="0" sz="2550" spc="-55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competitive</a:t>
            </a:r>
            <a:endParaRPr sz="2550">
              <a:latin typeface="Cambria"/>
              <a:cs typeface="Cambria"/>
            </a:endParaRPr>
          </a:p>
          <a:p>
            <a:pPr marL="16510">
              <a:lnSpc>
                <a:spcPts val="2690"/>
              </a:lnSpc>
            </a:pPr>
            <a:r>
              <a:rPr dirty="0" sz="2500">
                <a:latin typeface="Cambria"/>
                <a:cs typeface="Cambria"/>
              </a:rPr>
              <a:t>flux</a:t>
            </a:r>
            <a:r>
              <a:rPr dirty="0" sz="2500" spc="-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in</a:t>
            </a:r>
            <a:r>
              <a:rPr dirty="0" sz="2500" spc="-1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the</a:t>
            </a:r>
            <a:r>
              <a:rPr dirty="0" sz="2500" spc="-130">
                <a:latin typeface="Cambria"/>
                <a:cs typeface="Cambria"/>
              </a:rPr>
              <a:t> </a:t>
            </a:r>
            <a:r>
              <a:rPr dirty="0" sz="2500" spc="-25">
                <a:latin typeface="Cambria"/>
                <a:cs typeface="Cambria"/>
              </a:rPr>
              <a:t>digital </a:t>
            </a:r>
            <a:r>
              <a:rPr dirty="0" sz="2500" spc="-10">
                <a:latin typeface="Cambria"/>
                <a:cs typeface="Cambria"/>
              </a:rPr>
              <a:t>landscape.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158121" y="7595658"/>
            <a:ext cx="3003550" cy="755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 spc="75">
                <a:solidFill>
                  <a:srgbClr val="ED5D07"/>
                </a:solidFill>
                <a:latin typeface="Arial MT"/>
                <a:cs typeface="Arial MT"/>
              </a:rPr>
              <a:t>+25</a:t>
            </a:r>
            <a:r>
              <a:rPr dirty="0" sz="4800" spc="-185">
                <a:solidFill>
                  <a:srgbClr val="ED5D07"/>
                </a:solidFill>
                <a:latin typeface="Arial MT"/>
                <a:cs typeface="Arial MT"/>
              </a:rPr>
              <a:t> </a:t>
            </a:r>
            <a:r>
              <a:rPr dirty="0" sz="4800" spc="55">
                <a:solidFill>
                  <a:srgbClr val="E9640F"/>
                </a:solidFill>
                <a:latin typeface="Arial MT"/>
                <a:cs typeface="Arial MT"/>
              </a:rPr>
              <a:t>Points</a:t>
            </a:r>
            <a:endParaRPr sz="4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2200" y="1701800"/>
            <a:ext cx="9055100" cy="6324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8638" y="1624541"/>
            <a:ext cx="5578475" cy="628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50" spc="-295">
                <a:solidFill>
                  <a:srgbClr val="161616"/>
                </a:solidFill>
              </a:rPr>
              <a:t>A</a:t>
            </a:r>
            <a:r>
              <a:rPr dirty="0" sz="3950" spc="-360">
                <a:solidFill>
                  <a:srgbClr val="161616"/>
                </a:solidFill>
              </a:rPr>
              <a:t> </a:t>
            </a:r>
            <a:r>
              <a:rPr dirty="0" sz="3950" spc="-130">
                <a:solidFill>
                  <a:srgbClr val="070707"/>
                </a:solidFill>
              </a:rPr>
              <a:t>Data-</a:t>
            </a:r>
            <a:r>
              <a:rPr dirty="0" sz="3950" spc="-80">
                <a:solidFill>
                  <a:srgbClr val="070707"/>
                </a:solidFill>
              </a:rPr>
              <a:t>Driven</a:t>
            </a:r>
            <a:r>
              <a:rPr dirty="0" sz="3950" spc="-95">
                <a:solidFill>
                  <a:srgbClr val="070707"/>
                </a:solidFill>
              </a:rPr>
              <a:t> </a:t>
            </a:r>
            <a:r>
              <a:rPr dirty="0" sz="3950" spc="-190">
                <a:solidFill>
                  <a:srgbClr val="080808"/>
                </a:solidFill>
              </a:rPr>
              <a:t>Map</a:t>
            </a:r>
            <a:r>
              <a:rPr dirty="0" sz="3950" spc="-175">
                <a:solidFill>
                  <a:srgbClr val="080808"/>
                </a:solidFill>
              </a:rPr>
              <a:t> </a:t>
            </a:r>
            <a:r>
              <a:rPr dirty="0" sz="3950" spc="-145">
                <a:solidFill>
                  <a:srgbClr val="0A0A0A"/>
                </a:solidFill>
              </a:rPr>
              <a:t>Guides</a:t>
            </a:r>
            <a:endParaRPr sz="3950"/>
          </a:p>
        </p:txBody>
      </p:sp>
      <p:sp>
        <p:nvSpPr>
          <p:cNvPr id="5" name="object 5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52468" y="2162880"/>
            <a:ext cx="5751830" cy="61931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 spc="-65">
                <a:solidFill>
                  <a:srgbClr val="0E0E0E"/>
                </a:solidFill>
                <a:latin typeface="Arial MT"/>
                <a:cs typeface="Arial MT"/>
              </a:rPr>
              <a:t>Users</a:t>
            </a:r>
            <a:r>
              <a:rPr dirty="0" sz="3800" spc="-16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3800" spc="135">
                <a:solidFill>
                  <a:srgbClr val="111111"/>
                </a:solidFill>
                <a:latin typeface="Arial MT"/>
                <a:cs typeface="Arial MT"/>
              </a:rPr>
              <a:t>to</a:t>
            </a:r>
            <a:r>
              <a:rPr dirty="0" sz="3800" spc="-29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3800">
                <a:solidFill>
                  <a:srgbClr val="0E0E0E"/>
                </a:solidFill>
                <a:latin typeface="Arial MT"/>
                <a:cs typeface="Arial MT"/>
              </a:rPr>
              <a:t>the</a:t>
            </a:r>
            <a:r>
              <a:rPr dirty="0" sz="3800" spc="-5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3800" spc="-10">
                <a:solidFill>
                  <a:srgbClr val="0E0E0E"/>
                </a:solidFill>
                <a:latin typeface="Arial MT"/>
                <a:cs typeface="Arial MT"/>
              </a:rPr>
              <a:t>Action</a:t>
            </a:r>
            <a:endParaRPr sz="3800">
              <a:latin typeface="Arial MT"/>
              <a:cs typeface="Arial MT"/>
            </a:endParaRPr>
          </a:p>
          <a:p>
            <a:pPr marL="19685" marR="180340" indent="6985">
              <a:lnSpc>
                <a:spcPts val="2800"/>
              </a:lnSpc>
              <a:spcBef>
                <a:spcPts val="3300"/>
              </a:spcBef>
            </a:pPr>
            <a:r>
              <a:rPr dirty="0" sz="2350" spc="-215">
                <a:latin typeface="Arial MT"/>
                <a:cs typeface="Arial MT"/>
              </a:rPr>
              <a:t>Users</a:t>
            </a:r>
            <a:r>
              <a:rPr dirty="0" sz="2350" spc="20">
                <a:latin typeface="Arial MT"/>
                <a:cs typeface="Arial MT"/>
              </a:rPr>
              <a:t> </a:t>
            </a:r>
            <a:r>
              <a:rPr dirty="0" sz="2350" spc="-195">
                <a:latin typeface="Arial MT"/>
                <a:cs typeface="Arial MT"/>
              </a:rPr>
              <a:t>can</a:t>
            </a:r>
            <a:r>
              <a:rPr dirty="0" sz="2350" spc="30">
                <a:latin typeface="Arial MT"/>
                <a:cs typeface="Arial MT"/>
              </a:rPr>
              <a:t> </a:t>
            </a:r>
            <a:r>
              <a:rPr dirty="0" sz="2350" spc="-130">
                <a:latin typeface="Arial MT"/>
                <a:cs typeface="Arial MT"/>
              </a:rPr>
              <a:t>switch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150">
                <a:latin typeface="Arial MT"/>
                <a:cs typeface="Arial MT"/>
              </a:rPr>
              <a:t>from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120">
                <a:latin typeface="Arial MT"/>
                <a:cs typeface="Arial MT"/>
              </a:rPr>
              <a:t>the</a:t>
            </a:r>
            <a:r>
              <a:rPr dirty="0" sz="2350" spc="-125">
                <a:latin typeface="Arial MT"/>
                <a:cs typeface="Arial MT"/>
              </a:rPr>
              <a:t> </a:t>
            </a:r>
            <a:r>
              <a:rPr dirty="0" sz="2350" spc="-100">
                <a:latin typeface="Arial MT"/>
                <a:cs typeface="Arial MT"/>
              </a:rPr>
              <a:t>live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 spc="-459">
                <a:latin typeface="Arial MT"/>
                <a:cs typeface="Arial MT"/>
              </a:rPr>
              <a:t>AR</a:t>
            </a:r>
            <a:r>
              <a:rPr dirty="0" sz="2350" spc="-10">
                <a:latin typeface="Arial MT"/>
                <a:cs typeface="Arial MT"/>
              </a:rPr>
              <a:t> </a:t>
            </a:r>
            <a:r>
              <a:rPr dirty="0" sz="2350" spc="-210">
                <a:latin typeface="Arial MT"/>
                <a:cs typeface="Arial MT"/>
              </a:rPr>
              <a:t>camera</a:t>
            </a:r>
            <a:r>
              <a:rPr dirty="0" sz="2350" spc="5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to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 spc="-459">
                <a:latin typeface="Arial MT"/>
                <a:cs typeface="Arial MT"/>
              </a:rPr>
              <a:t>a</a:t>
            </a:r>
            <a:r>
              <a:rPr dirty="0" sz="2350" spc="-135">
                <a:latin typeface="Arial MT"/>
                <a:cs typeface="Arial MT"/>
              </a:rPr>
              <a:t> </a:t>
            </a:r>
            <a:r>
              <a:rPr dirty="0" sz="2400" spc="-135">
                <a:latin typeface="Arial MT"/>
                <a:cs typeface="Arial MT"/>
              </a:rPr>
              <a:t>top-</a:t>
            </a:r>
            <a:r>
              <a:rPr dirty="0" sz="2400" spc="-180">
                <a:latin typeface="Arial MT"/>
                <a:cs typeface="Arial MT"/>
              </a:rPr>
              <a:t>down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270">
                <a:latin typeface="Arial MT"/>
                <a:cs typeface="Arial MT"/>
              </a:rPr>
              <a:t>map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90">
                <a:latin typeface="Arial MT"/>
                <a:cs typeface="Arial MT"/>
              </a:rPr>
              <a:t>view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80">
                <a:latin typeface="Arial MT"/>
                <a:cs typeface="Arial MT"/>
              </a:rPr>
              <a:t>of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20">
                <a:latin typeface="Arial MT"/>
                <a:cs typeface="Arial MT"/>
              </a:rPr>
              <a:t>their</a:t>
            </a:r>
            <a:r>
              <a:rPr dirty="0" sz="2400" spc="25">
                <a:latin typeface="Arial MT"/>
                <a:cs typeface="Arial MT"/>
              </a:rPr>
              <a:t> </a:t>
            </a:r>
            <a:r>
              <a:rPr dirty="0" sz="2400" spc="-114">
                <a:latin typeface="Arial MT"/>
                <a:cs typeface="Arial MT"/>
              </a:rPr>
              <a:t>city.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280">
                <a:latin typeface="Arial MT"/>
                <a:cs typeface="Arial MT"/>
              </a:rPr>
              <a:t>The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70">
                <a:latin typeface="Arial MT"/>
                <a:cs typeface="Arial MT"/>
              </a:rPr>
              <a:t>map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35">
                <a:latin typeface="Arial MT"/>
                <a:cs typeface="Arial MT"/>
              </a:rPr>
              <a:t>is</a:t>
            </a:r>
            <a:r>
              <a:rPr dirty="0" sz="2400" spc="-1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not </a:t>
            </a:r>
            <a:r>
              <a:rPr dirty="0" sz="2500" spc="-155">
                <a:latin typeface="Arial MT"/>
                <a:cs typeface="Arial MT"/>
              </a:rPr>
              <a:t>static;</a:t>
            </a:r>
            <a:r>
              <a:rPr dirty="0" sz="2500" spc="-12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it</a:t>
            </a:r>
            <a:r>
              <a:rPr dirty="0" sz="2500" spc="-5">
                <a:latin typeface="Arial MT"/>
                <a:cs typeface="Arial MT"/>
              </a:rPr>
              <a:t> </a:t>
            </a:r>
            <a:r>
              <a:rPr dirty="0" sz="2500" spc="-235">
                <a:latin typeface="Arial MT"/>
                <a:cs typeface="Arial MT"/>
              </a:rPr>
              <a:t>visualises</a:t>
            </a:r>
            <a:r>
              <a:rPr dirty="0" sz="2500" spc="15">
                <a:latin typeface="Arial MT"/>
                <a:cs typeface="Arial MT"/>
              </a:rPr>
              <a:t> </a:t>
            </a:r>
            <a:r>
              <a:rPr dirty="0" sz="2500" spc="-175">
                <a:latin typeface="Arial MT"/>
                <a:cs typeface="Arial MT"/>
              </a:rPr>
              <a:t>real-</a:t>
            </a:r>
            <a:r>
              <a:rPr dirty="0" sz="2500" spc="-210">
                <a:latin typeface="Arial MT"/>
                <a:cs typeface="Arial MT"/>
              </a:rPr>
              <a:t>time</a:t>
            </a:r>
            <a:r>
              <a:rPr dirty="0" sz="2500" spc="-50">
                <a:latin typeface="Arial MT"/>
                <a:cs typeface="Arial MT"/>
              </a:rPr>
              <a:t> </a:t>
            </a:r>
            <a:r>
              <a:rPr dirty="0" sz="2500" spc="-250">
                <a:latin typeface="Arial MT"/>
                <a:cs typeface="Arial MT"/>
              </a:rPr>
              <a:t>user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270">
                <a:latin typeface="Arial MT"/>
                <a:cs typeface="Arial MT"/>
              </a:rPr>
              <a:t>engagement.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2500">
              <a:latin typeface="Arial MT"/>
              <a:cs typeface="Arial MT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dirty="0" sz="2500">
                <a:latin typeface="Arial MT"/>
                <a:cs typeface="Arial MT"/>
              </a:rPr>
              <a:t>Feature</a:t>
            </a:r>
            <a:r>
              <a:rPr dirty="0" sz="2500" spc="14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Spotlight:</a:t>
            </a:r>
            <a:r>
              <a:rPr dirty="0" sz="2500" spc="7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Hotspots</a:t>
            </a:r>
            <a:endParaRPr sz="2500">
              <a:latin typeface="Arial MT"/>
              <a:cs typeface="Arial MT"/>
            </a:endParaRPr>
          </a:p>
          <a:p>
            <a:pPr marL="19050" marR="97790" indent="-3175">
              <a:lnSpc>
                <a:spcPct val="106100"/>
              </a:lnSpc>
              <a:spcBef>
                <a:spcPts val="2685"/>
              </a:spcBef>
            </a:pPr>
            <a:r>
              <a:rPr dirty="0" sz="2200">
                <a:latin typeface="Arial MT"/>
                <a:cs typeface="Arial MT"/>
              </a:rPr>
              <a:t>Definition:</a:t>
            </a:r>
            <a:r>
              <a:rPr dirty="0" sz="2200" spc="-135">
                <a:latin typeface="Arial MT"/>
                <a:cs typeface="Arial MT"/>
              </a:rPr>
              <a:t> </a:t>
            </a:r>
            <a:r>
              <a:rPr dirty="0" sz="2200" spc="-85">
                <a:latin typeface="Arial MT"/>
                <a:cs typeface="Arial MT"/>
              </a:rPr>
              <a:t>Glowing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 spc="-105">
                <a:latin typeface="Arial MT"/>
                <a:cs typeface="Arial MT"/>
              </a:rPr>
              <a:t>areas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 spc="-105">
                <a:latin typeface="Arial MT"/>
                <a:cs typeface="Arial MT"/>
              </a:rPr>
              <a:t>on</a:t>
            </a:r>
            <a:r>
              <a:rPr dirty="0" sz="2200" spc="-55">
                <a:latin typeface="Arial MT"/>
                <a:cs typeface="Arial MT"/>
              </a:rPr>
              <a:t> </a:t>
            </a:r>
            <a:r>
              <a:rPr dirty="0" sz="2200" spc="-40">
                <a:latin typeface="Arial MT"/>
                <a:cs typeface="Arial MT"/>
              </a:rPr>
              <a:t>the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100">
                <a:latin typeface="Arial MT"/>
                <a:cs typeface="Arial MT"/>
              </a:rPr>
              <a:t>map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 spc="-20">
                <a:latin typeface="Arial MT"/>
                <a:cs typeface="Arial MT"/>
              </a:rPr>
              <a:t>that </a:t>
            </a:r>
            <a:r>
              <a:rPr dirty="0" sz="2200" spc="-40">
                <a:latin typeface="Arial MT"/>
                <a:cs typeface="Arial MT"/>
              </a:rPr>
              <a:t>indicate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75">
                <a:latin typeface="Arial MT"/>
                <a:cs typeface="Arial MT"/>
              </a:rPr>
              <a:t>high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45">
                <a:latin typeface="Arial MT"/>
                <a:cs typeface="Arial MT"/>
              </a:rPr>
              <a:t>concentrations</a:t>
            </a:r>
            <a:r>
              <a:rPr dirty="0" sz="2200" spc="-10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155">
                <a:latin typeface="Arial MT"/>
                <a:cs typeface="Arial MT"/>
              </a:rPr>
              <a:t> </a:t>
            </a:r>
            <a:r>
              <a:rPr dirty="0" sz="2200" spc="-80">
                <a:latin typeface="Arial MT"/>
                <a:cs typeface="Arial MT"/>
              </a:rPr>
              <a:t>user</a:t>
            </a:r>
            <a:r>
              <a:rPr dirty="0" sz="22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activity</a:t>
            </a:r>
            <a:r>
              <a:rPr dirty="0" sz="2200" spc="80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and </a:t>
            </a:r>
            <a:r>
              <a:rPr dirty="0" sz="2200" spc="-215">
                <a:latin typeface="Arial MT"/>
                <a:cs typeface="Arial MT"/>
              </a:rPr>
              <a:t>a</a:t>
            </a:r>
            <a:r>
              <a:rPr dirty="0" sz="2200">
                <a:latin typeface="Arial MT"/>
                <a:cs typeface="Arial MT"/>
              </a:rPr>
              <a:t> </a:t>
            </a:r>
            <a:r>
              <a:rPr dirty="0" sz="2200" spc="-85">
                <a:latin typeface="Arial MT"/>
                <a:cs typeface="Arial MT"/>
              </a:rPr>
              <a:t>large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90">
                <a:latin typeface="Arial MT"/>
                <a:cs typeface="Arial MT"/>
              </a:rPr>
              <a:t>number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 spc="-70">
                <a:latin typeface="Arial MT"/>
                <a:cs typeface="Arial MT"/>
              </a:rPr>
              <a:t>placed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blocks.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2200">
              <a:latin typeface="Arial MT"/>
              <a:cs typeface="Arial MT"/>
            </a:endParaRPr>
          </a:p>
          <a:p>
            <a:pPr marL="27305" marR="5080" indent="-13335">
              <a:lnSpc>
                <a:spcPct val="106200"/>
              </a:lnSpc>
            </a:pPr>
            <a:r>
              <a:rPr dirty="0" sz="2200" spc="-10">
                <a:latin typeface="Arial MT"/>
                <a:cs typeface="Arial MT"/>
              </a:rPr>
              <a:t>Function:</a:t>
            </a:r>
            <a:r>
              <a:rPr dirty="0" sz="2200" spc="-145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Hotspots</a:t>
            </a:r>
            <a:r>
              <a:rPr dirty="0" sz="2200" spc="-60">
                <a:latin typeface="Arial MT"/>
                <a:cs typeface="Arial MT"/>
              </a:rPr>
              <a:t> </a:t>
            </a:r>
            <a:r>
              <a:rPr dirty="0" sz="2200" spc="-85">
                <a:latin typeface="Arial MT"/>
                <a:cs typeface="Arial MT"/>
              </a:rPr>
              <a:t>serve</a:t>
            </a:r>
            <a:r>
              <a:rPr dirty="0" sz="2200" spc="-65">
                <a:latin typeface="Arial MT"/>
                <a:cs typeface="Arial MT"/>
              </a:rPr>
              <a:t> </a:t>
            </a:r>
            <a:r>
              <a:rPr dirty="0" sz="2200" spc="-105">
                <a:latin typeface="Arial MT"/>
                <a:cs typeface="Arial MT"/>
              </a:rPr>
              <a:t>as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 spc="-215">
                <a:latin typeface="Arial MT"/>
                <a:cs typeface="Arial MT"/>
              </a:rPr>
              <a:t>a</a:t>
            </a:r>
            <a:r>
              <a:rPr dirty="0" sz="2200" spc="-5">
                <a:latin typeface="Arial MT"/>
                <a:cs typeface="Arial MT"/>
              </a:rPr>
              <a:t> </a:t>
            </a:r>
            <a:r>
              <a:rPr dirty="0" sz="2200" spc="-55">
                <a:latin typeface="Arial MT"/>
                <a:cs typeface="Arial MT"/>
              </a:rPr>
              <a:t>natural</a:t>
            </a:r>
            <a:r>
              <a:rPr dirty="0" sz="22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guide, </a:t>
            </a:r>
            <a:r>
              <a:rPr dirty="0" sz="2150" spc="-10">
                <a:latin typeface="Arial MT"/>
                <a:cs typeface="Arial MT"/>
              </a:rPr>
              <a:t>directing</a:t>
            </a:r>
            <a:r>
              <a:rPr dirty="0" sz="2150" spc="-140">
                <a:latin typeface="Arial MT"/>
                <a:cs typeface="Arial MT"/>
              </a:rPr>
              <a:t> </a:t>
            </a:r>
            <a:r>
              <a:rPr dirty="0" sz="2150" spc="-30">
                <a:latin typeface="Arial MT"/>
                <a:cs typeface="Arial MT"/>
              </a:rPr>
              <a:t>users</a:t>
            </a:r>
            <a:r>
              <a:rPr dirty="0" sz="2150" spc="-5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to</a:t>
            </a:r>
            <a:r>
              <a:rPr dirty="0" sz="2150" spc="-10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the</a:t>
            </a:r>
            <a:r>
              <a:rPr dirty="0" sz="2150" spc="-15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most</a:t>
            </a:r>
            <a:r>
              <a:rPr dirty="0" sz="2150" spc="-50">
                <a:latin typeface="Arial MT"/>
                <a:cs typeface="Arial MT"/>
              </a:rPr>
              <a:t> </a:t>
            </a:r>
            <a:r>
              <a:rPr dirty="0" sz="2150" spc="-20">
                <a:latin typeface="Arial MT"/>
                <a:cs typeface="Arial MT"/>
              </a:rPr>
              <a:t>active</a:t>
            </a:r>
            <a:r>
              <a:rPr dirty="0" sz="2150" spc="-85">
                <a:latin typeface="Arial MT"/>
                <a:cs typeface="Arial MT"/>
              </a:rPr>
              <a:t> and</a:t>
            </a:r>
            <a:r>
              <a:rPr dirty="0" sz="2150" spc="-65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interesting </a:t>
            </a:r>
            <a:r>
              <a:rPr dirty="0" sz="2200" spc="-80">
                <a:latin typeface="Arial MT"/>
                <a:cs typeface="Arial MT"/>
              </a:rPr>
              <a:t>places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in</a:t>
            </a:r>
            <a:r>
              <a:rPr dirty="0" sz="2200" spc="-15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the</a:t>
            </a:r>
            <a:r>
              <a:rPr dirty="0" sz="2200" spc="-140">
                <a:latin typeface="Arial MT"/>
                <a:cs typeface="Arial MT"/>
              </a:rPr>
              <a:t> </a:t>
            </a:r>
            <a:r>
              <a:rPr dirty="0" sz="2200" spc="-30">
                <a:latin typeface="Arial MT"/>
                <a:cs typeface="Arial MT"/>
              </a:rPr>
              <a:t>city,</a:t>
            </a:r>
            <a:r>
              <a:rPr dirty="0" sz="2200" spc="-125">
                <a:latin typeface="Arial MT"/>
                <a:cs typeface="Arial MT"/>
              </a:rPr>
              <a:t> </a:t>
            </a:r>
            <a:r>
              <a:rPr dirty="0" sz="2200" spc="-80">
                <a:latin typeface="Arial MT"/>
                <a:cs typeface="Arial MT"/>
              </a:rPr>
              <a:t>ensuring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210">
                <a:latin typeface="Arial MT"/>
                <a:cs typeface="Arial MT"/>
              </a:rPr>
              <a:t>a</a:t>
            </a:r>
            <a:r>
              <a:rPr dirty="0" sz="2200" spc="55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concentrated</a:t>
            </a:r>
            <a:r>
              <a:rPr dirty="0" sz="2200" spc="105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and </a:t>
            </a:r>
            <a:r>
              <a:rPr dirty="0" sz="2200" spc="-80">
                <a:latin typeface="Arial MT"/>
                <a:cs typeface="Arial MT"/>
              </a:rPr>
              <a:t>engaging</a:t>
            </a:r>
            <a:r>
              <a:rPr dirty="0" sz="2200" spc="-5">
                <a:latin typeface="Arial MT"/>
                <a:cs typeface="Arial MT"/>
              </a:rPr>
              <a:t> </a:t>
            </a:r>
            <a:r>
              <a:rPr dirty="0" sz="2200" spc="-80">
                <a:latin typeface="Arial MT"/>
                <a:cs typeface="Arial MT"/>
              </a:rPr>
              <a:t>social</a:t>
            </a:r>
            <a:r>
              <a:rPr dirty="0" sz="2200" spc="-7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experience.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578100"/>
            <a:ext cx="2120900" cy="2184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56700" y="2578100"/>
            <a:ext cx="1790700" cy="1981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608" rIns="0" bIns="0" rtlCol="0" vert="horz">
            <a:spAutoFit/>
          </a:bodyPr>
          <a:lstStyle/>
          <a:p>
            <a:pPr marL="1786255">
              <a:lnSpc>
                <a:spcPct val="100000"/>
              </a:lnSpc>
              <a:spcBef>
                <a:spcPts val="135"/>
              </a:spcBef>
            </a:pPr>
            <a:r>
              <a:rPr dirty="0" sz="5450">
                <a:solidFill>
                  <a:srgbClr val="1C1C1C"/>
                </a:solidFill>
              </a:rPr>
              <a:t>Engineering</a:t>
            </a:r>
            <a:r>
              <a:rPr dirty="0" sz="5450" spc="-320">
                <a:solidFill>
                  <a:srgbClr val="1C1C1C"/>
                </a:solidFill>
              </a:rPr>
              <a:t> </a:t>
            </a:r>
            <a:r>
              <a:rPr dirty="0" sz="5450" spc="-220">
                <a:solidFill>
                  <a:srgbClr val="232323"/>
                </a:solidFill>
              </a:rPr>
              <a:t>a</a:t>
            </a:r>
            <a:r>
              <a:rPr dirty="0" sz="5450" spc="-330">
                <a:solidFill>
                  <a:srgbClr val="232323"/>
                </a:solidFill>
              </a:rPr>
              <a:t> </a:t>
            </a:r>
            <a:r>
              <a:rPr dirty="0" sz="5450" spc="-60"/>
              <a:t>Clean</a:t>
            </a:r>
            <a:r>
              <a:rPr dirty="0" sz="5450" spc="-320"/>
              <a:t> </a:t>
            </a:r>
            <a:r>
              <a:rPr dirty="0" sz="5450" spc="55">
                <a:solidFill>
                  <a:srgbClr val="1D1D1D"/>
                </a:solidFill>
              </a:rPr>
              <a:t>and</a:t>
            </a:r>
            <a:r>
              <a:rPr dirty="0" sz="5450" spc="-575">
                <a:solidFill>
                  <a:srgbClr val="1D1D1D"/>
                </a:solidFill>
              </a:rPr>
              <a:t> </a:t>
            </a:r>
            <a:r>
              <a:rPr dirty="0" sz="5450">
                <a:solidFill>
                  <a:srgbClr val="1D1D1D"/>
                </a:solidFill>
              </a:rPr>
              <a:t>Dynamic</a:t>
            </a:r>
            <a:r>
              <a:rPr dirty="0" sz="5450" spc="55">
                <a:solidFill>
                  <a:srgbClr val="1D1D1D"/>
                </a:solidFill>
              </a:rPr>
              <a:t> </a:t>
            </a:r>
            <a:r>
              <a:rPr dirty="0" sz="5450" spc="-10">
                <a:solidFill>
                  <a:srgbClr val="1C1C1C"/>
                </a:solidFill>
              </a:rPr>
              <a:t>World</a:t>
            </a:r>
            <a:endParaRPr sz="5450"/>
          </a:p>
        </p:txBody>
      </p:sp>
      <p:sp>
        <p:nvSpPr>
          <p:cNvPr id="13" name="object 13" descr=""/>
          <p:cNvSpPr txBox="1"/>
          <p:nvPr/>
        </p:nvSpPr>
        <p:spPr>
          <a:xfrm>
            <a:off x="16107384" y="9455853"/>
            <a:ext cx="123253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57704" y="5066594"/>
            <a:ext cx="582930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35">
                <a:latin typeface="Arial MT"/>
                <a:cs typeface="Arial MT"/>
              </a:rPr>
              <a:t>Turning</a:t>
            </a:r>
            <a:r>
              <a:rPr dirty="0" sz="3050" spc="-45">
                <a:latin typeface="Arial MT"/>
                <a:cs typeface="Arial MT"/>
              </a:rPr>
              <a:t> </a:t>
            </a:r>
            <a:r>
              <a:rPr dirty="0" sz="3050" spc="-10">
                <a:latin typeface="Arial MT"/>
                <a:cs typeface="Arial MT"/>
              </a:rPr>
              <a:t>Moderation</a:t>
            </a:r>
            <a:r>
              <a:rPr dirty="0" sz="3050" spc="-5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into</a:t>
            </a:r>
            <a:r>
              <a:rPr dirty="0" sz="3050" spc="-204">
                <a:latin typeface="Arial MT"/>
                <a:cs typeface="Arial MT"/>
              </a:rPr>
              <a:t> </a:t>
            </a:r>
            <a:r>
              <a:rPr dirty="0" sz="3050" spc="-90">
                <a:latin typeface="Arial MT"/>
                <a:cs typeface="Arial MT"/>
              </a:rPr>
              <a:t>Gameplay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55002" y="5873750"/>
            <a:ext cx="50095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latin typeface="Arial MT"/>
                <a:cs typeface="Arial MT"/>
              </a:rPr>
              <a:t>Problem”:</a:t>
            </a:r>
            <a:r>
              <a:rPr dirty="0" sz="2500" spc="-125">
                <a:latin typeface="Arial MT"/>
                <a:cs typeface="Arial MT"/>
              </a:rPr>
              <a:t> </a:t>
            </a:r>
            <a:r>
              <a:rPr dirty="0" sz="2500" spc="-120">
                <a:latin typeface="Arial MT"/>
                <a:cs typeface="Arial MT"/>
              </a:rPr>
              <a:t>Unwanted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 spc="-60">
                <a:latin typeface="Arial MT"/>
                <a:cs typeface="Arial MT"/>
              </a:rPr>
              <a:t>or</a:t>
            </a:r>
            <a:r>
              <a:rPr dirty="0" sz="2500" spc="-40">
                <a:latin typeface="Arial MT"/>
                <a:cs typeface="Arial MT"/>
              </a:rPr>
              <a:t> </a:t>
            </a:r>
            <a:r>
              <a:rPr dirty="0" sz="2500" spc="-190">
                <a:latin typeface="Arial MT"/>
                <a:cs typeface="Arial MT"/>
              </a:rPr>
              <a:t>spam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45">
                <a:latin typeface="Arial MT"/>
                <a:cs typeface="Arial MT"/>
              </a:rPr>
              <a:t>content.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55683" y="6574719"/>
            <a:ext cx="6934200" cy="1507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810">
              <a:lnSpc>
                <a:spcPct val="101299"/>
              </a:lnSpc>
              <a:spcBef>
                <a:spcPts val="90"/>
              </a:spcBef>
            </a:pPr>
            <a:r>
              <a:rPr dirty="0" sz="2400" spc="-1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45">
                <a:latin typeface="Arial MT"/>
                <a:cs typeface="Arial MT"/>
              </a:rPr>
              <a:t>community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85">
                <a:latin typeface="Arial MT"/>
                <a:cs typeface="Arial MT"/>
              </a:rPr>
              <a:t>can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65">
                <a:latin typeface="Arial MT"/>
                <a:cs typeface="Arial MT"/>
              </a:rPr>
              <a:t>mark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certain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blocks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65">
                <a:latin typeface="Arial MT"/>
                <a:cs typeface="Arial MT"/>
              </a:rPr>
              <a:t>as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'spam’. </a:t>
            </a:r>
            <a:r>
              <a:rPr dirty="0" sz="2400" spc="-55">
                <a:latin typeface="Arial MT"/>
                <a:cs typeface="Arial MT"/>
              </a:rPr>
              <a:t>Destroying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these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90">
                <a:latin typeface="Arial MT"/>
                <a:cs typeface="Arial MT"/>
              </a:rPr>
              <a:t>spam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30">
                <a:latin typeface="Arial MT"/>
                <a:cs typeface="Arial MT"/>
              </a:rPr>
              <a:t>blocks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55">
                <a:latin typeface="Arial MT"/>
                <a:cs typeface="Arial MT"/>
              </a:rPr>
              <a:t>gives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65">
                <a:latin typeface="Arial MT"/>
                <a:cs typeface="Arial MT"/>
              </a:rPr>
              <a:t> </a:t>
            </a:r>
            <a:r>
              <a:rPr dirty="0" sz="2400" spc="-65">
                <a:latin typeface="Arial MT"/>
                <a:cs typeface="Arial MT"/>
              </a:rPr>
              <a:t>user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higher point</a:t>
            </a:r>
            <a:r>
              <a:rPr dirty="0" sz="2400" spc="-16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rewards.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This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gamifies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55">
                <a:latin typeface="Arial MT"/>
                <a:cs typeface="Arial MT"/>
              </a:rPr>
              <a:t>moderation,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40">
                <a:latin typeface="Arial MT"/>
                <a:cs typeface="Arial MT"/>
              </a:rPr>
              <a:t>incentivising </a:t>
            </a:r>
            <a:r>
              <a:rPr dirty="0" sz="2400" spc="-70">
                <a:latin typeface="Arial MT"/>
                <a:cs typeface="Arial MT"/>
              </a:rPr>
              <a:t>users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95">
                <a:latin typeface="Arial MT"/>
                <a:cs typeface="Arial MT"/>
              </a:rPr>
              <a:t> </a:t>
            </a:r>
            <a:r>
              <a:rPr dirty="0" sz="2400" spc="-45">
                <a:latin typeface="Arial MT"/>
                <a:cs typeface="Arial MT"/>
              </a:rPr>
              <a:t>keep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50">
                <a:latin typeface="Arial MT"/>
                <a:cs typeface="Arial MT"/>
              </a:rPr>
              <a:t> </a:t>
            </a:r>
            <a:r>
              <a:rPr dirty="0" sz="2400" spc="-45">
                <a:latin typeface="Arial MT"/>
                <a:cs typeface="Arial MT"/>
              </a:rPr>
              <a:t>shared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world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clean.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23412" y="8428566"/>
            <a:ext cx="1983739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>
                <a:latin typeface="Arial MT"/>
                <a:cs typeface="Arial MT"/>
              </a:rPr>
              <a:t>High</a:t>
            </a:r>
            <a:r>
              <a:rPr dirty="0" sz="2050" spc="4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Reward</a:t>
            </a:r>
            <a:r>
              <a:rPr dirty="0" sz="2050" spc="430"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F45E0A"/>
                </a:solidFill>
                <a:latin typeface="Arial MT"/>
                <a:cs typeface="Arial MT"/>
              </a:rPr>
              <a:t>•$•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164101" y="5066594"/>
            <a:ext cx="717169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45">
                <a:latin typeface="Arial MT"/>
                <a:cs typeface="Arial MT"/>
              </a:rPr>
              <a:t>Ensuring</a:t>
            </a:r>
            <a:r>
              <a:rPr dirty="0" sz="3050" spc="-170">
                <a:latin typeface="Arial MT"/>
                <a:cs typeface="Arial MT"/>
              </a:rPr>
              <a:t> </a:t>
            </a:r>
            <a:r>
              <a:rPr dirty="0" sz="3050" spc="-245">
                <a:latin typeface="Arial MT"/>
                <a:cs typeface="Arial MT"/>
              </a:rPr>
              <a:t>a</a:t>
            </a:r>
            <a:r>
              <a:rPr dirty="0" sz="3050" spc="-70">
                <a:latin typeface="Arial MT"/>
                <a:cs typeface="Arial MT"/>
              </a:rPr>
              <a:t> </a:t>
            </a:r>
            <a:r>
              <a:rPr dirty="0" sz="3050">
                <a:latin typeface="Arial MT"/>
                <a:cs typeface="Arial MT"/>
              </a:rPr>
              <a:t>Constantly</a:t>
            </a:r>
            <a:r>
              <a:rPr dirty="0" sz="3050" spc="-100">
                <a:latin typeface="Arial MT"/>
                <a:cs typeface="Arial MT"/>
              </a:rPr>
              <a:t> </a:t>
            </a:r>
            <a:r>
              <a:rPr dirty="0" sz="3050" spc="-30">
                <a:latin typeface="Arial MT"/>
                <a:cs typeface="Arial MT"/>
              </a:rPr>
              <a:t>Evolving</a:t>
            </a:r>
            <a:r>
              <a:rPr dirty="0" sz="3050" spc="-120">
                <a:latin typeface="Arial MT"/>
                <a:cs typeface="Arial MT"/>
              </a:rPr>
              <a:t> </a:t>
            </a:r>
            <a:r>
              <a:rPr dirty="0" sz="3050" spc="-55">
                <a:latin typeface="Arial MT"/>
                <a:cs typeface="Arial MT"/>
              </a:rPr>
              <a:t>Landscape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158283" y="5876219"/>
            <a:ext cx="6652259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>
                <a:latin typeface="Arial MT"/>
                <a:cs typeface="Arial MT"/>
              </a:rPr>
              <a:t>Problem”:</a:t>
            </a:r>
            <a:r>
              <a:rPr dirty="0" sz="2400" spc="-160">
                <a:latin typeface="Arial MT"/>
                <a:cs typeface="Arial MT"/>
              </a:rPr>
              <a:t> </a:t>
            </a:r>
            <a:r>
              <a:rPr dirty="0" sz="2400" spc="-240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static</a:t>
            </a:r>
            <a:r>
              <a:rPr dirty="0" sz="2400" spc="20">
                <a:latin typeface="Arial MT"/>
                <a:cs typeface="Arial MT"/>
              </a:rPr>
              <a:t> </a:t>
            </a:r>
            <a:r>
              <a:rPr dirty="0" sz="2400" spc="-30">
                <a:latin typeface="Arial MT"/>
                <a:cs typeface="Arial MT"/>
              </a:rPr>
              <a:t>world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cluttered</a:t>
            </a:r>
            <a:r>
              <a:rPr dirty="0" sz="2400" spc="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40">
                <a:latin typeface="Arial MT"/>
                <a:cs typeface="Arial MT"/>
              </a:rPr>
              <a:t>old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content.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157835" y="6574719"/>
            <a:ext cx="7221220" cy="1507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270">
              <a:lnSpc>
                <a:spcPct val="101299"/>
              </a:lnSpc>
              <a:spcBef>
                <a:spcPts val="90"/>
              </a:spcBef>
            </a:pPr>
            <a:r>
              <a:rPr dirty="0" sz="2400" spc="-65">
                <a:latin typeface="Arial MT"/>
                <a:cs typeface="Arial MT"/>
              </a:rPr>
              <a:t>Blocks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95">
                <a:latin typeface="Arial MT"/>
                <a:cs typeface="Arial MT"/>
              </a:rPr>
              <a:t>are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temporary</a:t>
            </a:r>
            <a:r>
              <a:rPr dirty="0" sz="2400" spc="-1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1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default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90">
                <a:latin typeface="Arial MT"/>
                <a:cs typeface="Arial MT"/>
              </a:rPr>
              <a:t>and</a:t>
            </a:r>
            <a:r>
              <a:rPr dirty="0" sz="2400" spc="-75">
                <a:latin typeface="Arial MT"/>
                <a:cs typeface="Arial MT"/>
              </a:rPr>
              <a:t> expire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55">
                <a:latin typeface="Arial MT"/>
                <a:cs typeface="Arial MT"/>
              </a:rPr>
              <a:t>over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time. </a:t>
            </a:r>
            <a:r>
              <a:rPr dirty="0" sz="2400" spc="-60">
                <a:latin typeface="Arial MT"/>
                <a:cs typeface="Arial MT"/>
              </a:rPr>
              <a:t>Users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40">
                <a:latin typeface="Arial MT"/>
                <a:cs typeface="Arial MT"/>
              </a:rPr>
              <a:t>who</a:t>
            </a:r>
            <a:r>
              <a:rPr dirty="0" sz="2400" spc="-1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want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their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45">
                <a:latin typeface="Arial MT"/>
                <a:cs typeface="Arial MT"/>
              </a:rPr>
              <a:t>creations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7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last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65">
                <a:latin typeface="Arial MT"/>
                <a:cs typeface="Arial MT"/>
              </a:rPr>
              <a:t>longer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75">
                <a:latin typeface="Arial MT"/>
                <a:cs typeface="Arial MT"/>
              </a:rPr>
              <a:t>can</a:t>
            </a:r>
            <a:r>
              <a:rPr dirty="0" sz="2400" spc="-120">
                <a:latin typeface="Arial MT"/>
                <a:cs typeface="Arial MT"/>
              </a:rPr>
              <a:t> </a:t>
            </a:r>
            <a:r>
              <a:rPr dirty="0" sz="2400" spc="-40">
                <a:latin typeface="Arial MT"/>
                <a:cs typeface="Arial MT"/>
              </a:rPr>
              <a:t>pay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 spc="-30">
                <a:latin typeface="Arial MT"/>
                <a:cs typeface="Arial MT"/>
              </a:rPr>
              <a:t>extend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 spc="-220">
                <a:latin typeface="Arial MT"/>
                <a:cs typeface="Arial MT"/>
              </a:rPr>
              <a:t>a</a:t>
            </a:r>
            <a:r>
              <a:rPr dirty="0" sz="2400" spc="2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block's</a:t>
            </a:r>
            <a:r>
              <a:rPr dirty="0" sz="2400" spc="-140">
                <a:latin typeface="Arial MT"/>
                <a:cs typeface="Arial MT"/>
              </a:rPr>
              <a:t> </a:t>
            </a:r>
            <a:r>
              <a:rPr dirty="0" sz="2400" spc="-40">
                <a:latin typeface="Arial MT"/>
                <a:cs typeface="Arial MT"/>
              </a:rPr>
              <a:t>duration,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30">
                <a:latin typeface="Arial MT"/>
                <a:cs typeface="Arial MT"/>
              </a:rPr>
              <a:t>creating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20">
                <a:latin typeface="Arial MT"/>
                <a:cs typeface="Arial MT"/>
              </a:rPr>
              <a:t>a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core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monetisation </a:t>
            </a:r>
            <a:r>
              <a:rPr dirty="0" sz="2400" spc="-60">
                <a:latin typeface="Arial MT"/>
                <a:cs typeface="Arial MT"/>
              </a:rPr>
              <a:t>mechanic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60">
                <a:latin typeface="Arial MT"/>
                <a:cs typeface="Arial MT"/>
              </a:rPr>
              <a:t>while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45">
                <a:latin typeface="Arial MT"/>
                <a:cs typeface="Arial MT"/>
              </a:rPr>
              <a:t>preventing</a:t>
            </a:r>
            <a:r>
              <a:rPr dirty="0" sz="2400" spc="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stagnation.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300705" y="8432447"/>
            <a:ext cx="27038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150" spc="-95">
                <a:latin typeface="Arial MT"/>
                <a:cs typeface="Arial MT"/>
              </a:rPr>
              <a:t>Pay</a:t>
            </a:r>
            <a:r>
              <a:rPr dirty="0" sz="2150" spc="-15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to</a:t>
            </a:r>
            <a:r>
              <a:rPr dirty="0" sz="2150" spc="-150">
                <a:latin typeface="Arial MT"/>
                <a:cs typeface="Arial MT"/>
              </a:rPr>
              <a:t> </a:t>
            </a:r>
            <a:r>
              <a:rPr dirty="0" sz="2150" spc="-30">
                <a:latin typeface="Arial MT"/>
                <a:cs typeface="Arial MT"/>
              </a:rPr>
              <a:t>Extend</a:t>
            </a:r>
            <a:r>
              <a:rPr dirty="0" sz="2150" spc="-60">
                <a:latin typeface="Arial MT"/>
                <a:cs typeface="Arial MT"/>
              </a:rPr>
              <a:t> </a:t>
            </a:r>
            <a:r>
              <a:rPr dirty="0" sz="2150">
                <a:latin typeface="Arial MT"/>
                <a:cs typeface="Arial MT"/>
              </a:rPr>
              <a:t>Time</a:t>
            </a:r>
            <a:r>
              <a:rPr dirty="0" sz="2150" spc="190">
                <a:latin typeface="Arial MT"/>
                <a:cs typeface="Arial MT"/>
              </a:rPr>
              <a:t> </a:t>
            </a:r>
            <a:r>
              <a:rPr dirty="0" baseline="-10335" sz="3225" spc="-75">
                <a:solidFill>
                  <a:srgbClr val="0154F2"/>
                </a:solidFill>
                <a:latin typeface="Arial MT"/>
                <a:cs typeface="Arial MT"/>
              </a:rPr>
              <a:t>O</a:t>
            </a:r>
            <a:endParaRPr baseline="-10335" sz="322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5300" y="3670300"/>
            <a:ext cx="5422900" cy="8255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718800" y="2717800"/>
            <a:ext cx="2717800" cy="571500"/>
          </a:xfrm>
          <a:prstGeom prst="rect">
            <a:avLst/>
          </a:prstGeom>
          <a:solidFill>
            <a:srgbClr val="D8DBE4"/>
          </a:solidFill>
        </p:spPr>
        <p:txBody>
          <a:bodyPr wrap="square" lIns="0" tIns="82550" rIns="0" bIns="0" rtlCol="0" vert="horz">
            <a:spAutoFit/>
          </a:bodyPr>
          <a:lstStyle/>
          <a:p>
            <a:pPr marL="759460">
              <a:lnSpc>
                <a:spcPct val="100000"/>
              </a:lnSpc>
              <a:spcBef>
                <a:spcPts val="650"/>
              </a:spcBef>
            </a:pPr>
            <a:r>
              <a:rPr dirty="0" sz="2350" spc="-145">
                <a:solidFill>
                  <a:srgbClr val="0F4FC3"/>
                </a:solidFill>
                <a:latin typeface="Arial MT"/>
                <a:cs typeface="Arial MT"/>
              </a:rPr>
              <a:t>C‹ty-</a:t>
            </a:r>
            <a:r>
              <a:rPr dirty="0" sz="2350" spc="-10">
                <a:solidFill>
                  <a:srgbClr val="0F4FC3"/>
                </a:solidFill>
                <a:latin typeface="Arial MT"/>
                <a:cs typeface="Arial MT"/>
              </a:rPr>
              <a:t>Level</a:t>
            </a:r>
            <a:endParaRPr sz="23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1353800" y="4787900"/>
            <a:ext cx="368300" cy="419100"/>
            <a:chOff x="11353800" y="4787900"/>
            <a:chExt cx="368300" cy="4191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53800" y="4965700"/>
              <a:ext cx="368300" cy="2413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42700" y="4787900"/>
              <a:ext cx="190500" cy="177800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55400" y="5613400"/>
            <a:ext cx="177800" cy="1905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66500" y="5854700"/>
            <a:ext cx="355600" cy="1778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42700" y="6438900"/>
            <a:ext cx="190500" cy="1905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79200" y="6680200"/>
            <a:ext cx="342900" cy="1778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53800" y="7518400"/>
            <a:ext cx="342900" cy="1778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59749" y="813505"/>
            <a:ext cx="6611620" cy="1388745"/>
          </a:xfrm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17145" marR="5080" indent="-5080">
              <a:lnSpc>
                <a:spcPct val="101099"/>
              </a:lnSpc>
              <a:spcBef>
                <a:spcPts val="35"/>
              </a:spcBef>
            </a:pPr>
            <a:r>
              <a:rPr dirty="0" sz="4450" spc="70">
                <a:solidFill>
                  <a:srgbClr val="000000"/>
                </a:solidFill>
              </a:rPr>
              <a:t>Driving</a:t>
            </a:r>
            <a:r>
              <a:rPr dirty="0" sz="4450" spc="-140">
                <a:solidFill>
                  <a:srgbClr val="000000"/>
                </a:solidFill>
              </a:rPr>
              <a:t> </a:t>
            </a:r>
            <a:r>
              <a:rPr dirty="0" sz="4450">
                <a:solidFill>
                  <a:srgbClr val="000000"/>
                </a:solidFill>
              </a:rPr>
              <a:t>Daily</a:t>
            </a:r>
            <a:r>
              <a:rPr dirty="0" sz="4450" spc="-110">
                <a:solidFill>
                  <a:srgbClr val="000000"/>
                </a:solidFill>
              </a:rPr>
              <a:t> </a:t>
            </a:r>
            <a:r>
              <a:rPr dirty="0" sz="4450" spc="-10">
                <a:solidFill>
                  <a:srgbClr val="000000"/>
                </a:solidFill>
              </a:rPr>
              <a:t>Engagement </a:t>
            </a:r>
            <a:r>
              <a:rPr dirty="0" sz="4450">
                <a:solidFill>
                  <a:srgbClr val="000000"/>
                </a:solidFill>
              </a:rPr>
              <a:t>Through</a:t>
            </a:r>
            <a:r>
              <a:rPr dirty="0" sz="4450" spc="300">
                <a:solidFill>
                  <a:srgbClr val="000000"/>
                </a:solidFill>
              </a:rPr>
              <a:t> </a:t>
            </a:r>
            <a:r>
              <a:rPr dirty="0" sz="4450" spc="70">
                <a:solidFill>
                  <a:srgbClr val="000000"/>
                </a:solidFill>
              </a:rPr>
              <a:t>Competition</a:t>
            </a:r>
            <a:endParaRPr sz="4450"/>
          </a:p>
        </p:txBody>
      </p:sp>
      <p:sp>
        <p:nvSpPr>
          <p:cNvPr id="18" name="object 18" descr=""/>
          <p:cNvSpPr txBox="1"/>
          <p:nvPr/>
        </p:nvSpPr>
        <p:spPr>
          <a:xfrm>
            <a:off x="16114255" y="9455853"/>
            <a:ext cx="122872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1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59308" y="2659591"/>
            <a:ext cx="7418070" cy="12877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8415" marR="5080" indent="12700">
              <a:lnSpc>
                <a:spcPts val="3400"/>
              </a:lnSpc>
              <a:spcBef>
                <a:spcPts val="85"/>
              </a:spcBef>
            </a:pPr>
            <a:r>
              <a:rPr dirty="0" sz="2700" spc="-135">
                <a:latin typeface="Arial MT"/>
                <a:cs typeface="Arial MT"/>
              </a:rPr>
              <a:t>All</a:t>
            </a:r>
            <a:r>
              <a:rPr dirty="0" sz="2700" spc="-65">
                <a:latin typeface="Arial MT"/>
                <a:cs typeface="Arial MT"/>
              </a:rPr>
              <a:t> </a:t>
            </a:r>
            <a:r>
              <a:rPr dirty="0" sz="2700" spc="-70">
                <a:latin typeface="Arial MT"/>
                <a:cs typeface="Arial MT"/>
              </a:rPr>
              <a:t>points</a:t>
            </a:r>
            <a:r>
              <a:rPr dirty="0" sz="2700" spc="-85">
                <a:latin typeface="Arial MT"/>
                <a:cs typeface="Arial MT"/>
              </a:rPr>
              <a:t> </a:t>
            </a:r>
            <a:r>
              <a:rPr dirty="0" sz="2700" spc="-130">
                <a:latin typeface="Arial MT"/>
                <a:cs typeface="Arial MT"/>
              </a:rPr>
              <a:t>earned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 spc="-50">
                <a:latin typeface="Arial MT"/>
                <a:cs typeface="Arial MT"/>
              </a:rPr>
              <a:t>from</a:t>
            </a:r>
            <a:r>
              <a:rPr dirty="0" sz="2700" spc="-135">
                <a:latin typeface="Arial MT"/>
                <a:cs typeface="Arial MT"/>
              </a:rPr>
              <a:t> </a:t>
            </a:r>
            <a:r>
              <a:rPr dirty="0" sz="2700" spc="-90">
                <a:latin typeface="Arial MT"/>
                <a:cs typeface="Arial MT"/>
              </a:rPr>
              <a:t>placing </a:t>
            </a:r>
            <a:r>
              <a:rPr dirty="0" sz="2700" spc="-145">
                <a:latin typeface="Arial MT"/>
                <a:cs typeface="Arial MT"/>
              </a:rPr>
              <a:t>and</a:t>
            </a:r>
            <a:r>
              <a:rPr dirty="0" sz="2700" spc="-40">
                <a:latin typeface="Arial MT"/>
                <a:cs typeface="Arial MT"/>
              </a:rPr>
              <a:t> </a:t>
            </a:r>
            <a:r>
              <a:rPr dirty="0" sz="2700" spc="-85">
                <a:latin typeface="Arial MT"/>
                <a:cs typeface="Arial MT"/>
              </a:rPr>
              <a:t>destroying</a:t>
            </a:r>
            <a:r>
              <a:rPr dirty="0" sz="2700" spc="5">
                <a:latin typeface="Arial MT"/>
                <a:cs typeface="Arial MT"/>
              </a:rPr>
              <a:t> </a:t>
            </a:r>
            <a:r>
              <a:rPr dirty="0" sz="2700" spc="-50">
                <a:latin typeface="Arial MT"/>
                <a:cs typeface="Arial MT"/>
              </a:rPr>
              <a:t>blocks </a:t>
            </a:r>
            <a:r>
              <a:rPr dirty="0" sz="2700" spc="-140">
                <a:latin typeface="Arial MT"/>
                <a:cs typeface="Arial MT"/>
              </a:rPr>
              <a:t>are</a:t>
            </a:r>
            <a:r>
              <a:rPr dirty="0" sz="2700" spc="-125">
                <a:latin typeface="Arial MT"/>
                <a:cs typeface="Arial MT"/>
              </a:rPr>
              <a:t> </a:t>
            </a:r>
            <a:r>
              <a:rPr dirty="0" sz="2700" spc="-60">
                <a:latin typeface="Arial MT"/>
                <a:cs typeface="Arial MT"/>
              </a:rPr>
              <a:t>tallied</a:t>
            </a:r>
            <a:r>
              <a:rPr dirty="0" sz="2700" spc="-130">
                <a:latin typeface="Arial MT"/>
                <a:cs typeface="Arial MT"/>
              </a:rPr>
              <a:t> </a:t>
            </a:r>
            <a:r>
              <a:rPr dirty="0" sz="2700" spc="-114">
                <a:latin typeface="Arial MT"/>
                <a:cs typeface="Arial MT"/>
              </a:rPr>
              <a:t>on</a:t>
            </a:r>
            <a:r>
              <a:rPr dirty="0" sz="2700" spc="-140">
                <a:latin typeface="Arial MT"/>
                <a:cs typeface="Arial MT"/>
              </a:rPr>
              <a:t> </a:t>
            </a:r>
            <a:r>
              <a:rPr dirty="0" sz="2700" spc="-55">
                <a:latin typeface="Arial MT"/>
                <a:cs typeface="Arial MT"/>
              </a:rPr>
              <a:t>public</a:t>
            </a:r>
            <a:r>
              <a:rPr dirty="0" sz="2700" spc="-130">
                <a:latin typeface="Arial MT"/>
                <a:cs typeface="Arial MT"/>
              </a:rPr>
              <a:t> </a:t>
            </a:r>
            <a:r>
              <a:rPr dirty="0" sz="2700" spc="-100">
                <a:latin typeface="Arial MT"/>
                <a:cs typeface="Arial MT"/>
              </a:rPr>
              <a:t>leaderboards.</a:t>
            </a:r>
            <a:r>
              <a:rPr dirty="0" sz="2700" spc="40">
                <a:latin typeface="Arial MT"/>
                <a:cs typeface="Arial MT"/>
              </a:rPr>
              <a:t> </a:t>
            </a:r>
            <a:r>
              <a:rPr dirty="0" sz="2700" spc="-100">
                <a:latin typeface="Arial MT"/>
                <a:cs typeface="Arial MT"/>
              </a:rPr>
              <a:t>This</a:t>
            </a:r>
            <a:r>
              <a:rPr dirty="0" sz="2700" spc="-4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system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600" spc="-25">
                <a:latin typeface="Arial MT"/>
                <a:cs typeface="Arial MT"/>
              </a:rPr>
              <a:t>transforms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individual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actions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into</a:t>
            </a:r>
            <a:r>
              <a:rPr dirty="0" sz="2600" spc="-150">
                <a:latin typeface="Arial MT"/>
                <a:cs typeface="Arial MT"/>
              </a:rPr>
              <a:t> </a:t>
            </a:r>
            <a:r>
              <a:rPr dirty="0" sz="2600" spc="-210">
                <a:latin typeface="Arial MT"/>
                <a:cs typeface="Arial MT"/>
              </a:rPr>
              <a:t>a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city-</a:t>
            </a:r>
            <a:r>
              <a:rPr dirty="0" sz="2600">
                <a:latin typeface="Arial MT"/>
                <a:cs typeface="Arial MT"/>
              </a:rPr>
              <a:t>wide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sport.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81280">
              <a:lnSpc>
                <a:spcPct val="100000"/>
              </a:lnSpc>
              <a:spcBef>
                <a:spcPts val="114"/>
              </a:spcBef>
            </a:pPr>
            <a:r>
              <a:rPr dirty="0"/>
              <a:t>Leaderboard</a:t>
            </a:r>
            <a:r>
              <a:rPr dirty="0" spc="-50"/>
              <a:t> </a:t>
            </a:r>
            <a:r>
              <a:rPr dirty="0" spc="-10"/>
              <a:t>Tiers</a:t>
            </a:r>
          </a:p>
          <a:p>
            <a:pPr marL="522605" indent="-280035">
              <a:lnSpc>
                <a:spcPct val="100000"/>
              </a:lnSpc>
              <a:spcBef>
                <a:spcPts val="3020"/>
              </a:spcBef>
              <a:buChar char="•"/>
              <a:tabLst>
                <a:tab pos="522605" algn="l"/>
              </a:tabLst>
            </a:pPr>
            <a:r>
              <a:rPr dirty="0" sz="2700" spc="-25"/>
              <a:t>City-</a:t>
            </a:r>
            <a:r>
              <a:rPr dirty="0" sz="2700"/>
              <a:t>Level:</a:t>
            </a:r>
            <a:r>
              <a:rPr dirty="0" sz="2700" spc="-190"/>
              <a:t> </a:t>
            </a:r>
            <a:r>
              <a:rPr dirty="0" sz="2700" spc="-200"/>
              <a:t>Ranks</a:t>
            </a:r>
            <a:r>
              <a:rPr dirty="0" sz="2700" spc="45"/>
              <a:t> </a:t>
            </a:r>
            <a:r>
              <a:rPr dirty="0" sz="2700" spc="-110"/>
              <a:t>the</a:t>
            </a:r>
            <a:r>
              <a:rPr dirty="0" sz="2700" spc="-114"/>
              <a:t> </a:t>
            </a:r>
            <a:r>
              <a:rPr dirty="0" sz="2700" spc="-30"/>
              <a:t>top</a:t>
            </a:r>
            <a:r>
              <a:rPr dirty="0" sz="2700" spc="-170"/>
              <a:t> </a:t>
            </a:r>
            <a:r>
              <a:rPr dirty="0" sz="2700" spc="-105"/>
              <a:t>players</a:t>
            </a:r>
            <a:r>
              <a:rPr dirty="0" sz="2700" spc="20"/>
              <a:t> </a:t>
            </a:r>
            <a:r>
              <a:rPr dirty="0" sz="2700" spc="-100"/>
              <a:t>across</a:t>
            </a:r>
            <a:r>
              <a:rPr dirty="0" sz="2700" spc="-85"/>
              <a:t> </a:t>
            </a:r>
            <a:r>
              <a:rPr dirty="0" sz="2700" spc="-50"/>
              <a:t>the</a:t>
            </a:r>
            <a:r>
              <a:rPr dirty="0" sz="2700" spc="-125"/>
              <a:t> </a:t>
            </a:r>
            <a:r>
              <a:rPr dirty="0" sz="2700" spc="-10"/>
              <a:t>entire</a:t>
            </a:r>
            <a:endParaRPr sz="2700"/>
          </a:p>
          <a:p>
            <a:pPr marL="530860">
              <a:lnSpc>
                <a:spcPct val="100000"/>
              </a:lnSpc>
              <a:spcBef>
                <a:spcPts val="160"/>
              </a:spcBef>
            </a:pPr>
            <a:r>
              <a:rPr dirty="0" sz="2600" spc="-20"/>
              <a:t>metropolitan</a:t>
            </a:r>
            <a:r>
              <a:rPr dirty="0" sz="2600" spc="-30"/>
              <a:t> </a:t>
            </a:r>
            <a:r>
              <a:rPr dirty="0" sz="2600" spc="-10"/>
              <a:t>area.</a:t>
            </a:r>
            <a:endParaRPr sz="2600"/>
          </a:p>
          <a:p>
            <a:pPr marL="526415" marR="5080" indent="-284480">
              <a:lnSpc>
                <a:spcPct val="102499"/>
              </a:lnSpc>
              <a:spcBef>
                <a:spcPts val="100"/>
              </a:spcBef>
              <a:buChar char="•"/>
              <a:tabLst>
                <a:tab pos="526415" algn="l"/>
                <a:tab pos="540385" algn="l"/>
              </a:tabLst>
            </a:pPr>
            <a:r>
              <a:rPr dirty="0" sz="2700"/>
              <a:t>	</a:t>
            </a:r>
            <a:r>
              <a:rPr dirty="0" sz="2700" spc="-80"/>
              <a:t>Area-</a:t>
            </a:r>
            <a:r>
              <a:rPr dirty="0" sz="2700" spc="-40"/>
              <a:t>Level:</a:t>
            </a:r>
            <a:r>
              <a:rPr dirty="0" sz="2700" spc="-160"/>
              <a:t> </a:t>
            </a:r>
            <a:r>
              <a:rPr dirty="0" sz="2700" spc="-114"/>
              <a:t>Provides</a:t>
            </a:r>
            <a:r>
              <a:rPr dirty="0" sz="2700" spc="-20"/>
              <a:t> </a:t>
            </a:r>
            <a:r>
              <a:rPr dirty="0" sz="2700" spc="-125"/>
              <a:t>more</a:t>
            </a:r>
            <a:r>
              <a:rPr dirty="0" sz="2700" spc="-65"/>
              <a:t> </a:t>
            </a:r>
            <a:r>
              <a:rPr dirty="0" sz="2700" spc="-105"/>
              <a:t>granular</a:t>
            </a:r>
            <a:r>
              <a:rPr dirty="0" sz="2700" spc="10"/>
              <a:t> </a:t>
            </a:r>
            <a:r>
              <a:rPr dirty="0" sz="2700" spc="-100"/>
              <a:t>rankings</a:t>
            </a:r>
            <a:r>
              <a:rPr dirty="0" sz="2700" spc="-20"/>
              <a:t> </a:t>
            </a:r>
            <a:r>
              <a:rPr dirty="0" sz="2700" spc="-25"/>
              <a:t>for </a:t>
            </a:r>
            <a:r>
              <a:rPr dirty="0" sz="2750" spc="-90"/>
              <a:t>local</a:t>
            </a:r>
            <a:r>
              <a:rPr dirty="0" sz="2750" spc="-35"/>
              <a:t> </a:t>
            </a:r>
            <a:r>
              <a:rPr dirty="0" sz="2750" spc="-120"/>
              <a:t>neighbourhoods,</a:t>
            </a:r>
            <a:r>
              <a:rPr dirty="0" sz="2750" spc="-290"/>
              <a:t> </a:t>
            </a:r>
            <a:r>
              <a:rPr dirty="0" sz="2750" spc="-95"/>
              <a:t>allowing</a:t>
            </a:r>
            <a:r>
              <a:rPr dirty="0" sz="2750" spc="10"/>
              <a:t> </a:t>
            </a:r>
            <a:r>
              <a:rPr dirty="0" sz="2750" spc="-155"/>
              <a:t>more</a:t>
            </a:r>
            <a:r>
              <a:rPr dirty="0" sz="2750"/>
              <a:t> </a:t>
            </a:r>
            <a:r>
              <a:rPr dirty="0" sz="2750" spc="-140"/>
              <a:t>users</a:t>
            </a:r>
            <a:r>
              <a:rPr dirty="0" sz="2750" spc="-85"/>
              <a:t> </a:t>
            </a:r>
            <a:r>
              <a:rPr dirty="0" sz="2750" spc="-25"/>
              <a:t>to </a:t>
            </a:r>
            <a:r>
              <a:rPr dirty="0" sz="2700" spc="-90"/>
              <a:t>compete</a:t>
            </a:r>
            <a:r>
              <a:rPr dirty="0" sz="2700" spc="-100"/>
              <a:t> </a:t>
            </a:r>
            <a:r>
              <a:rPr dirty="0" sz="2700" spc="-25"/>
              <a:t>for</a:t>
            </a:r>
            <a:r>
              <a:rPr dirty="0" sz="2700" spc="-160"/>
              <a:t> </a:t>
            </a:r>
            <a:r>
              <a:rPr dirty="0" sz="2700" spc="-70"/>
              <a:t>the</a:t>
            </a:r>
            <a:r>
              <a:rPr dirty="0" sz="2700" spc="-130"/>
              <a:t> </a:t>
            </a:r>
            <a:r>
              <a:rPr dirty="0" sz="2700"/>
              <a:t>top</a:t>
            </a:r>
            <a:r>
              <a:rPr dirty="0" sz="2700" spc="-130"/>
              <a:t> </a:t>
            </a:r>
            <a:r>
              <a:rPr dirty="0" sz="2700" spc="-105"/>
              <a:t>spot</a:t>
            </a:r>
            <a:r>
              <a:rPr dirty="0" sz="2700" spc="-80"/>
              <a:t> </a:t>
            </a:r>
            <a:r>
              <a:rPr dirty="0" sz="2700" spc="-50"/>
              <a:t>in</a:t>
            </a:r>
            <a:r>
              <a:rPr dirty="0" sz="2700" spc="-145"/>
              <a:t> </a:t>
            </a:r>
            <a:r>
              <a:rPr dirty="0" sz="2700" spc="-50"/>
              <a:t>their</a:t>
            </a:r>
            <a:r>
              <a:rPr dirty="0" sz="2700" spc="-60"/>
              <a:t> </a:t>
            </a:r>
            <a:r>
              <a:rPr dirty="0" sz="2700" spc="-90"/>
              <a:t>immediate</a:t>
            </a:r>
            <a:r>
              <a:rPr dirty="0" sz="2700" spc="-10"/>
              <a:t> </a:t>
            </a:r>
            <a:r>
              <a:rPr dirty="0" sz="2700" spc="-60"/>
              <a:t>vicinity.</a:t>
            </a:r>
            <a:endParaRPr sz="2700"/>
          </a:p>
          <a:p>
            <a:pPr>
              <a:lnSpc>
                <a:spcPct val="100000"/>
              </a:lnSpc>
              <a:spcBef>
                <a:spcPts val="2475"/>
              </a:spcBef>
            </a:pPr>
            <a:endParaRPr sz="2700"/>
          </a:p>
          <a:p>
            <a:pPr marL="13335" marR="123825" indent="-1270">
              <a:lnSpc>
                <a:spcPts val="3350"/>
              </a:lnSpc>
            </a:pPr>
            <a:r>
              <a:rPr dirty="0" sz="2850" spc="-300" i="1">
                <a:latin typeface="Arial"/>
                <a:cs typeface="Arial"/>
              </a:rPr>
              <a:t>The</a:t>
            </a:r>
            <a:r>
              <a:rPr dirty="0" sz="2850" spc="-70" i="1">
                <a:latin typeface="Arial"/>
                <a:cs typeface="Arial"/>
              </a:rPr>
              <a:t> </a:t>
            </a:r>
            <a:r>
              <a:rPr dirty="0" sz="2850" spc="-180" i="1">
                <a:latin typeface="Arial"/>
                <a:cs typeface="Arial"/>
              </a:rPr>
              <a:t>constant</a:t>
            </a:r>
            <a:r>
              <a:rPr dirty="0" sz="2850" spc="15" i="1">
                <a:latin typeface="Arial"/>
                <a:cs typeface="Arial"/>
              </a:rPr>
              <a:t> </a:t>
            </a:r>
            <a:r>
              <a:rPr dirty="0" sz="2850" spc="-190"/>
              <a:t>race</a:t>
            </a:r>
            <a:r>
              <a:rPr dirty="0" sz="2850" spc="-10"/>
              <a:t> </a:t>
            </a:r>
            <a:r>
              <a:rPr dirty="0" sz="2850" spc="-150"/>
              <a:t>for</a:t>
            </a:r>
            <a:r>
              <a:rPr dirty="0" sz="2850" spc="-210"/>
              <a:t> </a:t>
            </a:r>
            <a:r>
              <a:rPr dirty="0" sz="2850" spc="-145" i="1">
                <a:latin typeface="Arial"/>
                <a:cs typeface="Arial"/>
              </a:rPr>
              <a:t>status</a:t>
            </a:r>
            <a:r>
              <a:rPr dirty="0" sz="2850" spc="10" i="1">
                <a:latin typeface="Arial"/>
                <a:cs typeface="Arial"/>
              </a:rPr>
              <a:t> </a:t>
            </a:r>
            <a:r>
              <a:rPr dirty="0" sz="2850" spc="-229" i="1">
                <a:latin typeface="Arial"/>
                <a:cs typeface="Arial"/>
              </a:rPr>
              <a:t>encourages</a:t>
            </a:r>
            <a:r>
              <a:rPr dirty="0" sz="2850" spc="150" i="1">
                <a:latin typeface="Arial"/>
                <a:cs typeface="Arial"/>
              </a:rPr>
              <a:t> </a:t>
            </a:r>
            <a:r>
              <a:rPr dirty="0" sz="2850" spc="-225" i="1">
                <a:latin typeface="Arial"/>
                <a:cs typeface="Arial"/>
              </a:rPr>
              <a:t>daily,</a:t>
            </a:r>
            <a:r>
              <a:rPr dirty="0" sz="2850" spc="-80" i="1">
                <a:latin typeface="Arial"/>
                <a:cs typeface="Arial"/>
              </a:rPr>
              <a:t> </a:t>
            </a:r>
            <a:r>
              <a:rPr dirty="0" sz="2850" spc="-120" i="1">
                <a:latin typeface="Arial"/>
                <a:cs typeface="Arial"/>
              </a:rPr>
              <a:t>habitual </a:t>
            </a:r>
            <a:r>
              <a:rPr dirty="0" sz="2850" spc="-260" i="1">
                <a:latin typeface="Arial"/>
                <a:cs typeface="Arial"/>
              </a:rPr>
              <a:t>engagement</a:t>
            </a:r>
            <a:r>
              <a:rPr dirty="0" sz="2850" spc="315" i="1">
                <a:latin typeface="Arial"/>
                <a:cs typeface="Arial"/>
              </a:rPr>
              <a:t> </a:t>
            </a:r>
            <a:r>
              <a:rPr dirty="0" sz="2850" spc="-150" i="1">
                <a:latin typeface="Arial"/>
                <a:cs typeface="Arial"/>
              </a:rPr>
              <a:t>with</a:t>
            </a:r>
            <a:r>
              <a:rPr dirty="0" sz="2850" spc="-75" i="1">
                <a:latin typeface="Arial"/>
                <a:cs typeface="Arial"/>
              </a:rPr>
              <a:t> </a:t>
            </a:r>
            <a:r>
              <a:rPr dirty="0" sz="2850" spc="-190" i="1">
                <a:latin typeface="Arial"/>
                <a:cs typeface="Arial"/>
              </a:rPr>
              <a:t>the</a:t>
            </a:r>
            <a:r>
              <a:rPr dirty="0" sz="2850" spc="-40" i="1">
                <a:latin typeface="Arial"/>
                <a:cs typeface="Arial"/>
              </a:rPr>
              <a:t> </a:t>
            </a:r>
            <a:r>
              <a:rPr dirty="0" sz="2850" spc="-10" i="1">
                <a:latin typeface="Arial"/>
                <a:cs typeface="Arial"/>
              </a:rPr>
              <a:t>platform.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638283" y="1861255"/>
            <a:ext cx="390652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latin typeface="Arial MT"/>
                <a:cs typeface="Arial MT"/>
              </a:rPr>
              <a:t>Leaderboard: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London</a:t>
            </a:r>
            <a:endParaRPr sz="3200">
              <a:latin typeface="Arial MT"/>
              <a:cs typeface="Arial MT"/>
            </a:endParaRPr>
          </a:p>
        </p:txBody>
      </p:sp>
      <p:graphicFrame>
        <p:nvGraphicFramePr>
          <p:cNvPr id="16" name="object 16" descr=""/>
          <p:cNvGraphicFramePr>
            <a:graphicFrameLocks noGrp="1"/>
          </p:cNvGraphicFramePr>
          <p:nvPr/>
        </p:nvGraphicFramePr>
        <p:xfrm>
          <a:off x="10834335" y="3938779"/>
          <a:ext cx="5153025" cy="3664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430"/>
                <a:gridCol w="567690"/>
                <a:gridCol w="2232025"/>
                <a:gridCol w="1883409"/>
              </a:tblGrid>
              <a:tr h="54165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295"/>
                        </a:lnSpc>
                      </a:pPr>
                      <a:r>
                        <a:rPr dirty="0" sz="2050" spc="-10">
                          <a:latin typeface="Arial MT"/>
                          <a:cs typeface="Arial MT"/>
                        </a:rPr>
                        <a:t>1,450,210</a:t>
                      </a:r>
                      <a:r>
                        <a:rPr dirty="0" sz="20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5">
                          <a:latin typeface="Arial MT"/>
                          <a:cs typeface="Arial MT"/>
                        </a:rPr>
                        <a:t>pts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865505"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dirty="0" sz="2550" spc="-335">
                          <a:latin typeface="Arial MT"/>
                          <a:cs typeface="Arial MT"/>
                        </a:rPr>
                        <a:t>2</a:t>
                      </a:r>
                      <a:endParaRPr sz="2550">
                        <a:latin typeface="Arial MT"/>
                        <a:cs typeface="Arial MT"/>
                      </a:endParaRPr>
                    </a:p>
                  </a:txBody>
                  <a:tcPr marL="0" marR="0" marB="0" marT="21780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914"/>
                        </a:spcBef>
                      </a:pPr>
                      <a:r>
                        <a:rPr dirty="0" sz="2350" spc="-125">
                          <a:latin typeface="Arial MT"/>
                          <a:cs typeface="Arial MT"/>
                        </a:rPr>
                        <a:t>@BIocksmith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B="0" marT="243204"/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ct val="100000"/>
                        </a:lnSpc>
                        <a:spcBef>
                          <a:spcPts val="1914"/>
                        </a:spcBef>
                      </a:pPr>
                      <a:r>
                        <a:rPr dirty="0" sz="2350" spc="-145">
                          <a:latin typeface="Arial MT"/>
                          <a:cs typeface="Arial MT"/>
                        </a:rPr>
                        <a:t>1,320,500</a:t>
                      </a:r>
                      <a:r>
                        <a:rPr dirty="0" sz="23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350" spc="-25">
                          <a:latin typeface="Arial MT"/>
                          <a:cs typeface="Arial MT"/>
                        </a:rPr>
                        <a:t>pts</a:t>
                      </a:r>
                      <a:endParaRPr sz="2350">
                        <a:latin typeface="Arial MT"/>
                        <a:cs typeface="Arial MT"/>
                      </a:endParaRPr>
                    </a:p>
                  </a:txBody>
                  <a:tcPr marL="0" marR="0" marB="0" marT="243204"/>
                </a:tc>
              </a:tr>
              <a:tr h="805815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1800"/>
                        </a:spcBef>
                      </a:pPr>
                      <a:r>
                        <a:rPr dirty="0" sz="2150" spc="-50">
                          <a:latin typeface="Arial MT"/>
                          <a:cs typeface="Arial MT"/>
                        </a:rPr>
                        <a:t>3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228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050" spc="-10">
                          <a:latin typeface="Arial MT"/>
                          <a:cs typeface="Arial MT"/>
                        </a:rPr>
                        <a:t>@GeoHacker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24130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dirty="0" sz="2050" spc="-45">
                          <a:latin typeface="Arial MT"/>
                          <a:cs typeface="Arial MT"/>
                        </a:rPr>
                        <a:t>1,298,150</a:t>
                      </a:r>
                      <a:r>
                        <a:rPr dirty="0" sz="205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050" spc="-25">
                          <a:latin typeface="Arial MT"/>
                          <a:cs typeface="Arial MT"/>
                        </a:rPr>
                        <a:t>pts</a:t>
                      </a:r>
                      <a:endParaRPr sz="2050">
                        <a:latin typeface="Arial MT"/>
                        <a:cs typeface="Arial MT"/>
                      </a:endParaRPr>
                    </a:p>
                  </a:txBody>
                  <a:tcPr marL="0" marR="0" marB="0" marT="241300"/>
                </a:tc>
              </a:tr>
              <a:tr h="14516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dirty="0" sz="2350" spc="-50">
                          <a:latin typeface="Arial MT"/>
                          <a:cs typeface="Arial MT"/>
                        </a:rPr>
                        <a:t>4</a:t>
                      </a:r>
                      <a:endParaRPr sz="23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3629"/>
                        </a:lnSpc>
                      </a:pPr>
                      <a:r>
                        <a:rPr dirty="0" sz="3050" spc="-50">
                          <a:latin typeface="Cambria"/>
                          <a:cs typeface="Cambria"/>
                        </a:rPr>
                        <a:t>s</a:t>
                      </a:r>
                      <a:endParaRPr sz="3050">
                        <a:latin typeface="Cambria"/>
                        <a:cs typeface="Cambria"/>
                      </a:endParaRPr>
                    </a:p>
                  </a:txBody>
                  <a:tcPr marL="0" marR="0" marB="0" marT="2222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3050">
                        <a:latin typeface="Times New Roman"/>
                        <a:cs typeface="Times New Roman"/>
                      </a:endParaRPr>
                    </a:p>
                    <a:p>
                      <a:pPr marL="200660">
                        <a:lnSpc>
                          <a:spcPts val="3629"/>
                        </a:lnSpc>
                        <a:spcBef>
                          <a:spcPts val="5"/>
                        </a:spcBef>
                      </a:pPr>
                      <a:r>
                        <a:rPr dirty="0" sz="3050" spc="-25">
                          <a:solidFill>
                            <a:srgbClr val="898989"/>
                          </a:solidFill>
                          <a:latin typeface="Cambria"/>
                          <a:cs typeface="Cambria"/>
                        </a:rPr>
                        <a:t>fi</a:t>
                      </a:r>
                      <a:endParaRPr sz="3050">
                        <a:latin typeface="Cambria"/>
                        <a:cs typeface="Cambri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500" spc="-155">
                          <a:latin typeface="Arial MT"/>
                          <a:cs typeface="Arial MT"/>
                        </a:rPr>
                        <a:t>@PixeIArchitect</a:t>
                      </a:r>
                      <a:endParaRPr sz="25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53670">
                        <a:lnSpc>
                          <a:spcPct val="100000"/>
                        </a:lnSpc>
                      </a:pPr>
                      <a:r>
                        <a:rPr dirty="0" sz="2150" spc="-80">
                          <a:latin typeface="Arial MT"/>
                          <a:cs typeface="Arial MT"/>
                        </a:rPr>
                        <a:t>@UrbanBui1der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215900"/>
                </a:tc>
                <a:tc>
                  <a:txBody>
                    <a:bodyPr/>
                    <a:lstStyle/>
                    <a:p>
                      <a:pPr algn="r" marR="2730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2500" spc="-290">
                          <a:latin typeface="Arial MT"/>
                          <a:cs typeface="Arial MT"/>
                        </a:rPr>
                        <a:t>1,105,890</a:t>
                      </a:r>
                      <a:r>
                        <a:rPr dirty="0" sz="250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500" spc="-25">
                          <a:latin typeface="Arial MT"/>
                          <a:cs typeface="Arial MT"/>
                        </a:rPr>
                        <a:t>pts</a:t>
                      </a:r>
                      <a:endParaRPr sz="25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algn="r" marR="24130">
                        <a:lnSpc>
                          <a:spcPct val="100000"/>
                        </a:lnSpc>
                      </a:pPr>
                      <a:r>
                        <a:rPr dirty="0" sz="2150" spc="-55">
                          <a:latin typeface="Arial MT"/>
                          <a:cs typeface="Arial MT"/>
                        </a:rPr>
                        <a:t>987,620</a:t>
                      </a:r>
                      <a:r>
                        <a:rPr dirty="0" sz="215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150" spc="-25">
                          <a:latin typeface="Arial MT"/>
                          <a:cs typeface="Arial MT"/>
                        </a:rPr>
                        <a:t>pts</a:t>
                      </a:r>
                      <a:endParaRPr sz="2150">
                        <a:latin typeface="Arial MT"/>
                        <a:cs typeface="Arial MT"/>
                      </a:endParaRPr>
                    </a:p>
                  </a:txBody>
                  <a:tcPr marL="0" marR="0" marB="0" marT="215900"/>
                </a:tc>
              </a:tr>
            </a:tbl>
          </a:graphicData>
        </a:graphic>
      </p:graphicFrame>
      <p:sp>
        <p:nvSpPr>
          <p:cNvPr id="17" name="object 17" descr=""/>
          <p:cNvSpPr txBox="1"/>
          <p:nvPr/>
        </p:nvSpPr>
        <p:spPr>
          <a:xfrm>
            <a:off x="14160906" y="2819047"/>
            <a:ext cx="12814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75">
                <a:solidFill>
                  <a:srgbClr val="343434"/>
                </a:solidFill>
                <a:latin typeface="Arial MT"/>
                <a:cs typeface="Arial MT"/>
              </a:rPr>
              <a:t>Area-</a:t>
            </a:r>
            <a:r>
              <a:rPr dirty="0" sz="2150" spc="-35">
                <a:solidFill>
                  <a:srgbClr val="343434"/>
                </a:solidFill>
                <a:latin typeface="Arial MT"/>
                <a:cs typeface="Arial MT"/>
              </a:rPr>
              <a:t>Level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5100" y="2095500"/>
            <a:ext cx="1422400" cy="1409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6400" y="6870700"/>
            <a:ext cx="419100" cy="152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43900" y="6197600"/>
            <a:ext cx="546100" cy="114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66300" y="5600700"/>
            <a:ext cx="203200" cy="292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01300" y="2400300"/>
            <a:ext cx="355600" cy="5207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14100" y="1193800"/>
            <a:ext cx="1282700" cy="3429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2900" y="3162300"/>
            <a:ext cx="1003300" cy="31750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0426700" y="1511300"/>
            <a:ext cx="2654300" cy="2006600"/>
            <a:chOff x="10426700" y="1511300"/>
            <a:chExt cx="2654300" cy="2006600"/>
          </a:xfrm>
        </p:grpSpPr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69700" y="2908300"/>
              <a:ext cx="711200" cy="6096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56900" y="2425700"/>
              <a:ext cx="1435100" cy="7493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50600" y="2032000"/>
              <a:ext cx="1206500" cy="6985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26700" y="1511300"/>
              <a:ext cx="2654300" cy="8128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55300" y="2324100"/>
              <a:ext cx="330200" cy="292100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61400" y="6794500"/>
            <a:ext cx="4533900" cy="5334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05800" y="6756400"/>
            <a:ext cx="165100" cy="11430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940800" y="5842000"/>
            <a:ext cx="304800" cy="342900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591800" y="4089400"/>
            <a:ext cx="482600" cy="54610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293600" y="2730500"/>
            <a:ext cx="165100" cy="254000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962471" y="899583"/>
            <a:ext cx="6861175" cy="1270000"/>
          </a:xfrm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12700" marR="5080" indent="1905">
              <a:lnSpc>
                <a:spcPts val="4800"/>
              </a:lnSpc>
              <a:spcBef>
                <a:spcPts val="400"/>
              </a:spcBef>
            </a:pPr>
            <a:r>
              <a:rPr dirty="0" sz="4150" spc="85">
                <a:solidFill>
                  <a:srgbClr val="1A1A1A"/>
                </a:solidFill>
              </a:rPr>
              <a:t>Building</a:t>
            </a:r>
            <a:r>
              <a:rPr dirty="0" sz="4150" spc="5">
                <a:solidFill>
                  <a:srgbClr val="1A1A1A"/>
                </a:solidFill>
              </a:rPr>
              <a:t> </a:t>
            </a:r>
            <a:r>
              <a:rPr dirty="0" sz="4150" spc="70">
                <a:solidFill>
                  <a:srgbClr val="181818"/>
                </a:solidFill>
              </a:rPr>
              <a:t>Teamwork</a:t>
            </a:r>
            <a:r>
              <a:rPr dirty="0" sz="4150" spc="180">
                <a:solidFill>
                  <a:srgbClr val="181818"/>
                </a:solidFill>
              </a:rPr>
              <a:t> </a:t>
            </a:r>
            <a:r>
              <a:rPr dirty="0" sz="4150" spc="65"/>
              <a:t>and</a:t>
            </a:r>
            <a:r>
              <a:rPr dirty="0" sz="4150" spc="-160"/>
              <a:t> </a:t>
            </a:r>
            <a:r>
              <a:rPr dirty="0" sz="4150" spc="85">
                <a:solidFill>
                  <a:srgbClr val="1A1A1A"/>
                </a:solidFill>
              </a:rPr>
              <a:t>City </a:t>
            </a:r>
            <a:r>
              <a:rPr dirty="0" sz="4150" spc="50">
                <a:solidFill>
                  <a:srgbClr val="1A1A1A"/>
                </a:solidFill>
              </a:rPr>
              <a:t>Pride</a:t>
            </a:r>
            <a:r>
              <a:rPr dirty="0" sz="4150" spc="60">
                <a:solidFill>
                  <a:srgbClr val="1A1A1A"/>
                </a:solidFill>
              </a:rPr>
              <a:t> </a:t>
            </a:r>
            <a:r>
              <a:rPr dirty="0" sz="4150" spc="195">
                <a:solidFill>
                  <a:srgbClr val="1A1A1A"/>
                </a:solidFill>
              </a:rPr>
              <a:t>with</a:t>
            </a:r>
            <a:r>
              <a:rPr dirty="0" sz="4150" spc="-160">
                <a:solidFill>
                  <a:srgbClr val="1A1A1A"/>
                </a:solidFill>
              </a:rPr>
              <a:t> </a:t>
            </a:r>
            <a:r>
              <a:rPr dirty="0" sz="4150" spc="75">
                <a:solidFill>
                  <a:srgbClr val="161616"/>
                </a:solidFill>
              </a:rPr>
              <a:t>Communities</a:t>
            </a:r>
            <a:endParaRPr sz="4150"/>
          </a:p>
        </p:txBody>
      </p:sp>
      <p:sp>
        <p:nvSpPr>
          <p:cNvPr id="27" name="object 27" descr=""/>
          <p:cNvSpPr txBox="1"/>
          <p:nvPr/>
        </p:nvSpPr>
        <p:spPr>
          <a:xfrm>
            <a:off x="16114255" y="9455853"/>
            <a:ext cx="1228725" cy="21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1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61226" y="2435577"/>
            <a:ext cx="5902960" cy="254254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24130" marR="5080" indent="-12065">
              <a:lnSpc>
                <a:spcPts val="2500"/>
              </a:lnSpc>
              <a:spcBef>
                <a:spcPts val="320"/>
              </a:spcBef>
            </a:pPr>
            <a:r>
              <a:rPr dirty="0" sz="2200" spc="-100">
                <a:latin typeface="Cambria"/>
                <a:cs typeface="Cambria"/>
              </a:rPr>
              <a:t>Beyond</a:t>
            </a:r>
            <a:r>
              <a:rPr dirty="0" sz="2200" spc="-15">
                <a:latin typeface="Cambria"/>
                <a:cs typeface="Cambria"/>
              </a:rPr>
              <a:t> </a:t>
            </a:r>
            <a:r>
              <a:rPr dirty="0" sz="2200" spc="-95">
                <a:latin typeface="Cambria"/>
                <a:cs typeface="Cambria"/>
              </a:rPr>
              <a:t>individual</a:t>
            </a:r>
            <a:r>
              <a:rPr dirty="0" sz="2200" spc="25">
                <a:latin typeface="Cambria"/>
                <a:cs typeface="Cambria"/>
              </a:rPr>
              <a:t> </a:t>
            </a:r>
            <a:r>
              <a:rPr dirty="0" sz="2200" spc="-65">
                <a:latin typeface="Cambria"/>
                <a:cs typeface="Cambria"/>
              </a:rPr>
              <a:t>competition,</a:t>
            </a:r>
            <a:r>
              <a:rPr dirty="0" sz="2200" spc="30">
                <a:latin typeface="Cambria"/>
                <a:cs typeface="Cambria"/>
              </a:rPr>
              <a:t> </a:t>
            </a:r>
            <a:r>
              <a:rPr dirty="0" sz="2200" spc="-114">
                <a:latin typeface="Cambria"/>
                <a:cs typeface="Cambria"/>
              </a:rPr>
              <a:t>users</a:t>
            </a:r>
            <a:r>
              <a:rPr dirty="0" sz="2200" spc="-10">
                <a:latin typeface="Cambria"/>
                <a:cs typeface="Cambria"/>
              </a:rPr>
              <a:t> </a:t>
            </a:r>
            <a:r>
              <a:rPr dirty="0" sz="2200" spc="-35">
                <a:latin typeface="Cambria"/>
                <a:cs typeface="Cambria"/>
              </a:rPr>
              <a:t>can</a:t>
            </a:r>
            <a:r>
              <a:rPr dirty="0" sz="2200" spc="20">
                <a:latin typeface="Cambria"/>
                <a:cs typeface="Cambria"/>
              </a:rPr>
              <a:t> </a:t>
            </a:r>
            <a:r>
              <a:rPr dirty="0" sz="2200" spc="-125">
                <a:latin typeface="Cambria"/>
                <a:cs typeface="Cambria"/>
              </a:rPr>
              <a:t>form</a:t>
            </a:r>
            <a:r>
              <a:rPr dirty="0" sz="2200" spc="5">
                <a:latin typeface="Cambria"/>
                <a:cs typeface="Cambria"/>
              </a:rPr>
              <a:t> </a:t>
            </a:r>
            <a:r>
              <a:rPr dirty="0" sz="2200" spc="-25">
                <a:latin typeface="Cambria"/>
                <a:cs typeface="Cambria"/>
              </a:rPr>
              <a:t>and </a:t>
            </a:r>
            <a:r>
              <a:rPr dirty="0" sz="2200" spc="-70">
                <a:latin typeface="Cambria"/>
                <a:cs typeface="Cambria"/>
              </a:rPr>
              <a:t>join</a:t>
            </a:r>
            <a:r>
              <a:rPr dirty="0" sz="2200" spc="-55">
                <a:latin typeface="Cambria"/>
                <a:cs typeface="Cambria"/>
              </a:rPr>
              <a:t> </a:t>
            </a:r>
            <a:r>
              <a:rPr dirty="0" sz="2200" spc="-100">
                <a:latin typeface="Cambria"/>
                <a:cs typeface="Cambria"/>
              </a:rPr>
              <a:t>Communities</a:t>
            </a:r>
            <a:r>
              <a:rPr dirty="0" sz="2200" spc="105">
                <a:latin typeface="Cambria"/>
                <a:cs typeface="Cambria"/>
              </a:rPr>
              <a:t> </a:t>
            </a:r>
            <a:r>
              <a:rPr dirty="0" sz="2200" spc="-100">
                <a:latin typeface="Cambria"/>
                <a:cs typeface="Cambria"/>
              </a:rPr>
              <a:t>within</a:t>
            </a:r>
            <a:r>
              <a:rPr dirty="0" sz="2200" spc="-5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their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50">
                <a:latin typeface="Cambria"/>
                <a:cs typeface="Cambria"/>
              </a:rPr>
              <a:t>city.</a:t>
            </a:r>
            <a:r>
              <a:rPr dirty="0" sz="2200" spc="-75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These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70">
                <a:latin typeface="Cambria"/>
                <a:cs typeface="Cambria"/>
              </a:rPr>
              <a:t>function</a:t>
            </a:r>
            <a:r>
              <a:rPr dirty="0" sz="2200" spc="85">
                <a:latin typeface="Cambria"/>
                <a:cs typeface="Cambria"/>
              </a:rPr>
              <a:t> </a:t>
            </a:r>
            <a:r>
              <a:rPr dirty="0" sz="2200" spc="-25">
                <a:latin typeface="Cambria"/>
                <a:cs typeface="Cambria"/>
              </a:rPr>
              <a:t>as </a:t>
            </a:r>
            <a:r>
              <a:rPr dirty="0" sz="2200" spc="-100">
                <a:latin typeface="Cambria"/>
                <a:cs typeface="Cambria"/>
              </a:rPr>
              <a:t>teams</a:t>
            </a:r>
            <a:r>
              <a:rPr dirty="0" sz="2200" spc="-25">
                <a:latin typeface="Cambria"/>
                <a:cs typeface="Cambria"/>
              </a:rPr>
              <a:t> </a:t>
            </a:r>
            <a:r>
              <a:rPr dirty="0" sz="2200" spc="-120">
                <a:latin typeface="Cambria"/>
                <a:cs typeface="Cambria"/>
              </a:rPr>
              <a:t>or</a:t>
            </a:r>
            <a:r>
              <a:rPr dirty="0" sz="2200">
                <a:latin typeface="Cambria"/>
                <a:cs typeface="Cambria"/>
              </a:rPr>
              <a:t> </a:t>
            </a:r>
            <a:r>
              <a:rPr dirty="0" sz="2200" spc="-60">
                <a:latin typeface="Cambria"/>
                <a:cs typeface="Cambria"/>
              </a:rPr>
              <a:t>guilds,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 spc="-85">
                <a:latin typeface="Cambria"/>
                <a:cs typeface="Cambria"/>
              </a:rPr>
              <a:t>creating</a:t>
            </a:r>
            <a:r>
              <a:rPr dirty="0" sz="2200" spc="-3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a</a:t>
            </a:r>
            <a:r>
              <a:rPr dirty="0" sz="2200" spc="-95">
                <a:latin typeface="Cambria"/>
                <a:cs typeface="Cambria"/>
              </a:rPr>
              <a:t> </a:t>
            </a:r>
            <a:r>
              <a:rPr dirty="0" sz="2200" spc="-110">
                <a:latin typeface="Cambria"/>
                <a:cs typeface="Cambria"/>
              </a:rPr>
              <a:t>powerful</a:t>
            </a:r>
            <a:r>
              <a:rPr dirty="0" sz="2200" spc="60">
                <a:latin typeface="Cambria"/>
                <a:cs typeface="Cambria"/>
              </a:rPr>
              <a:t> </a:t>
            </a:r>
            <a:r>
              <a:rPr dirty="0" sz="2200" spc="-65">
                <a:latin typeface="Cambria"/>
                <a:cs typeface="Cambria"/>
              </a:rPr>
              <a:t>social</a:t>
            </a:r>
            <a:r>
              <a:rPr dirty="0" sz="2200" spc="5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layer.</a:t>
            </a:r>
            <a:endParaRPr sz="2200">
              <a:latin typeface="Cambria"/>
              <a:cs typeface="Cambria"/>
            </a:endParaRPr>
          </a:p>
          <a:p>
            <a:pPr marL="17780" marR="72390" indent="-1905">
              <a:lnSpc>
                <a:spcPts val="2500"/>
              </a:lnSpc>
              <a:spcBef>
                <a:spcPts val="2150"/>
              </a:spcBef>
            </a:pPr>
            <a:r>
              <a:rPr dirty="0" sz="2200" spc="-105">
                <a:latin typeface="Cambria"/>
                <a:cs typeface="Cambria"/>
              </a:rPr>
              <a:t>Users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 spc="-135">
                <a:latin typeface="Cambria"/>
                <a:cs typeface="Cambria"/>
              </a:rPr>
              <a:t>are</a:t>
            </a:r>
            <a:r>
              <a:rPr dirty="0" sz="2200" spc="1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no</a:t>
            </a:r>
            <a:r>
              <a:rPr dirty="0" sz="2200" spc="-114">
                <a:latin typeface="Cambria"/>
                <a:cs typeface="Cambria"/>
              </a:rPr>
              <a:t> </a:t>
            </a:r>
            <a:r>
              <a:rPr dirty="0" sz="2200" spc="-95">
                <a:latin typeface="Cambria"/>
                <a:cs typeface="Cambria"/>
              </a:rPr>
              <a:t>longer</a:t>
            </a:r>
            <a:r>
              <a:rPr dirty="0" sz="2200" spc="15">
                <a:latin typeface="Cambria"/>
                <a:cs typeface="Cambria"/>
              </a:rPr>
              <a:t> </a:t>
            </a:r>
            <a:r>
              <a:rPr dirty="0" sz="2200" spc="-65">
                <a:latin typeface="Cambria"/>
                <a:cs typeface="Cambria"/>
              </a:rPr>
              <a:t>just</a:t>
            </a:r>
            <a:r>
              <a:rPr dirty="0" sz="2200" spc="15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playing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for</a:t>
            </a:r>
            <a:r>
              <a:rPr dirty="0" sz="2200" spc="-35">
                <a:latin typeface="Cambria"/>
                <a:cs typeface="Cambria"/>
              </a:rPr>
              <a:t> </a:t>
            </a:r>
            <a:r>
              <a:rPr dirty="0" sz="2200" spc="-80">
                <a:latin typeface="Cambria"/>
                <a:cs typeface="Cambria"/>
              </a:rPr>
              <a:t>themselves;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-20">
                <a:latin typeface="Cambria"/>
                <a:cs typeface="Cambria"/>
              </a:rPr>
              <a:t>they </a:t>
            </a:r>
            <a:r>
              <a:rPr dirty="0" sz="2200" spc="-90">
                <a:latin typeface="Cambria"/>
                <a:cs typeface="Cambria"/>
              </a:rPr>
              <a:t>are</a:t>
            </a:r>
            <a:r>
              <a:rPr dirty="0" sz="2200" spc="-5">
                <a:latin typeface="Cambria"/>
                <a:cs typeface="Cambria"/>
              </a:rPr>
              <a:t> </a:t>
            </a:r>
            <a:r>
              <a:rPr dirty="0" sz="2200" spc="-105">
                <a:latin typeface="Cambria"/>
                <a:cs typeface="Cambria"/>
              </a:rPr>
              <a:t>representing</a:t>
            </a:r>
            <a:r>
              <a:rPr dirty="0" sz="2200" spc="65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their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105">
                <a:latin typeface="Cambria"/>
                <a:cs typeface="Cambria"/>
              </a:rPr>
              <a:t>community</a:t>
            </a:r>
            <a:r>
              <a:rPr dirty="0" sz="2200" spc="10">
                <a:latin typeface="Cambria"/>
                <a:cs typeface="Cambria"/>
              </a:rPr>
              <a:t> </a:t>
            </a:r>
            <a:r>
              <a:rPr dirty="0" sz="2200" spc="-50">
                <a:latin typeface="Cambria"/>
                <a:cs typeface="Cambria"/>
              </a:rPr>
              <a:t>and</a:t>
            </a:r>
            <a:r>
              <a:rPr dirty="0" sz="2200" spc="-10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their</a:t>
            </a:r>
            <a:r>
              <a:rPr dirty="0" sz="2200" spc="-35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city.</a:t>
            </a:r>
            <a:endParaRPr sz="2200">
              <a:latin typeface="Cambria"/>
              <a:cs typeface="Cambria"/>
            </a:endParaRPr>
          </a:p>
          <a:p>
            <a:pPr marL="17780" marR="561340" indent="-5715">
              <a:lnSpc>
                <a:spcPts val="2500"/>
              </a:lnSpc>
            </a:pPr>
            <a:r>
              <a:rPr dirty="0" sz="2200" spc="-105">
                <a:latin typeface="Cambria"/>
                <a:cs typeface="Cambria"/>
              </a:rPr>
              <a:t>Every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block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75">
                <a:latin typeface="Cambria"/>
                <a:cs typeface="Cambria"/>
              </a:rPr>
              <a:t>placed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 spc="-95">
                <a:latin typeface="Cambria"/>
                <a:cs typeface="Cambria"/>
              </a:rPr>
              <a:t>becomes</a:t>
            </a:r>
            <a:r>
              <a:rPr dirty="0" sz="2200" spc="1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a</a:t>
            </a:r>
            <a:r>
              <a:rPr dirty="0" sz="2200" spc="-35">
                <a:latin typeface="Cambria"/>
                <a:cs typeface="Cambria"/>
              </a:rPr>
              <a:t> </a:t>
            </a:r>
            <a:r>
              <a:rPr dirty="0" sz="2200" spc="-180">
                <a:latin typeface="Cambria"/>
                <a:cs typeface="Cambria"/>
              </a:rPr>
              <a:t>mark</a:t>
            </a:r>
            <a:r>
              <a:rPr dirty="0" sz="2200" spc="5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of</a:t>
            </a:r>
            <a:r>
              <a:rPr dirty="0" sz="2200" spc="-60">
                <a:latin typeface="Cambria"/>
                <a:cs typeface="Cambria"/>
              </a:rPr>
              <a:t> </a:t>
            </a:r>
            <a:r>
              <a:rPr dirty="0" sz="2200" spc="-50">
                <a:latin typeface="Cambria"/>
                <a:cs typeface="Cambria"/>
              </a:rPr>
              <a:t>collective </a:t>
            </a:r>
            <a:r>
              <a:rPr dirty="0" sz="2200" spc="-10">
                <a:latin typeface="Cambria"/>
                <a:cs typeface="Cambria"/>
              </a:rPr>
              <a:t>identity.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390537" y="2921705"/>
            <a:ext cx="247459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685" algn="l"/>
              </a:tabLst>
            </a:pPr>
            <a:r>
              <a:rPr dirty="0" sz="1950" spc="-25">
                <a:latin typeface="Cambria"/>
                <a:cs typeface="Cambria"/>
              </a:rPr>
              <a:t>The</a:t>
            </a:r>
            <a:r>
              <a:rPr dirty="0" sz="1950">
                <a:latin typeface="Cambria"/>
                <a:cs typeface="Cambria"/>
              </a:rPr>
              <a:t>	</a:t>
            </a:r>
            <a:r>
              <a:rPr dirty="0" sz="1950" spc="90">
                <a:latin typeface="Cambria"/>
                <a:cs typeface="Cambria"/>
              </a:rPr>
              <a:t>Shard</a:t>
            </a:r>
            <a:r>
              <a:rPr dirty="0" sz="1950" spc="175">
                <a:latin typeface="Cambria"/>
                <a:cs typeface="Cambria"/>
              </a:rPr>
              <a:t> </a:t>
            </a:r>
            <a:r>
              <a:rPr dirty="0" sz="1950" spc="90">
                <a:latin typeface="Cambria"/>
                <a:cs typeface="Cambria"/>
              </a:rPr>
              <a:t>Collective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2666640" y="3709105"/>
            <a:ext cx="330517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>
                <a:latin typeface="Cambria"/>
                <a:cs typeface="Cambria"/>
              </a:rPr>
              <a:t>Total</a:t>
            </a:r>
            <a:r>
              <a:rPr dirty="0" sz="1950" spc="114">
                <a:latin typeface="Cambria"/>
                <a:cs typeface="Cambria"/>
              </a:rPr>
              <a:t> </a:t>
            </a:r>
            <a:r>
              <a:rPr dirty="0" sz="1950" spc="140">
                <a:latin typeface="Cambria"/>
                <a:cs typeface="Cambria"/>
              </a:rPr>
              <a:t>Score:</a:t>
            </a:r>
            <a:r>
              <a:rPr dirty="0" sz="1950" spc="30">
                <a:latin typeface="Cambria"/>
                <a:cs typeface="Cambria"/>
              </a:rPr>
              <a:t> </a:t>
            </a:r>
            <a:r>
              <a:rPr dirty="0" sz="1950" spc="125">
                <a:solidFill>
                  <a:srgbClr val="214DA1"/>
                </a:solidFill>
                <a:latin typeface="Cambria"/>
                <a:cs typeface="Cambria"/>
              </a:rPr>
              <a:t>12,834,500</a:t>
            </a:r>
            <a:r>
              <a:rPr dirty="0" sz="1950" spc="350">
                <a:solidFill>
                  <a:srgbClr val="214DA1"/>
                </a:solidFill>
                <a:latin typeface="Cambria"/>
                <a:cs typeface="Cambria"/>
              </a:rPr>
              <a:t> </a:t>
            </a:r>
            <a:r>
              <a:rPr dirty="0" sz="1950" spc="80">
                <a:solidFill>
                  <a:srgbClr val="1A4B97"/>
                </a:solidFill>
                <a:latin typeface="Cambria"/>
                <a:cs typeface="Cambria"/>
              </a:rPr>
              <a:t>pts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2663605" y="4543145"/>
            <a:ext cx="1815464" cy="177800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algn="ctr" marR="133985">
              <a:lnSpc>
                <a:spcPct val="100000"/>
              </a:lnSpc>
              <a:spcBef>
                <a:spcPts val="875"/>
              </a:spcBef>
            </a:pPr>
            <a:r>
              <a:rPr dirty="0" sz="1600">
                <a:solidFill>
                  <a:srgbClr val="0A0A0A"/>
                </a:solidFill>
                <a:latin typeface="Arial MT"/>
                <a:cs typeface="Arial MT"/>
              </a:rPr>
              <a:t>@•</a:t>
            </a:r>
            <a:r>
              <a:rPr dirty="0" sz="1600" spc="37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1600" spc="-90">
                <a:latin typeface="Arial MT"/>
                <a:cs typeface="Arial MT"/>
              </a:rPr>
              <a:t>@Ape</a:t>
            </a:r>
            <a:r>
              <a:rPr dirty="0" sz="1600" spc="-21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xBuilder</a:t>
            </a:r>
            <a:endParaRPr sz="1600">
              <a:latin typeface="Arial MT"/>
              <a:cs typeface="Arial MT"/>
            </a:endParaRPr>
          </a:p>
          <a:p>
            <a:pPr algn="ctr" marR="139065">
              <a:lnSpc>
                <a:spcPct val="100000"/>
              </a:lnSpc>
              <a:spcBef>
                <a:spcPts val="830"/>
              </a:spcBef>
            </a:pPr>
            <a:r>
              <a:rPr dirty="0" sz="1650" spc="-100">
                <a:latin typeface="Arial MT"/>
                <a:cs typeface="Arial MT"/>
              </a:rPr>
              <a:t>@City</a:t>
            </a:r>
            <a:r>
              <a:rPr dirty="0" sz="1650" spc="-16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Zen</a:t>
            </a:r>
            <a:endParaRPr sz="1650">
              <a:latin typeface="Arial MT"/>
              <a:cs typeface="Arial MT"/>
            </a:endParaRPr>
          </a:p>
          <a:p>
            <a:pPr marL="394335" marR="5080" indent="-344170">
              <a:lnSpc>
                <a:spcPct val="136400"/>
              </a:lnSpc>
              <a:spcBef>
                <a:spcPts val="100"/>
              </a:spcBef>
              <a:tabLst>
                <a:tab pos="393065" algn="l"/>
              </a:tabLst>
            </a:pPr>
            <a:r>
              <a:rPr dirty="0" sz="1650" spc="-50">
                <a:solidFill>
                  <a:srgbClr val="230800"/>
                </a:solidFill>
                <a:latin typeface="Arial MT"/>
                <a:cs typeface="Arial MT"/>
              </a:rPr>
              <a:t>@</a:t>
            </a:r>
            <a:r>
              <a:rPr dirty="0" sz="1650">
                <a:solidFill>
                  <a:srgbClr val="230800"/>
                </a:solidFill>
                <a:latin typeface="Arial MT"/>
                <a:cs typeface="Arial MT"/>
              </a:rPr>
              <a:t>	</a:t>
            </a:r>
            <a:r>
              <a:rPr dirty="0" sz="1650" spc="-65">
                <a:latin typeface="Arial MT"/>
                <a:cs typeface="Arial MT"/>
              </a:rPr>
              <a:t>@DesignMaven </a:t>
            </a:r>
            <a:r>
              <a:rPr dirty="0" sz="1650" spc="-30">
                <a:latin typeface="Arial MT"/>
                <a:cs typeface="Arial MT"/>
              </a:rPr>
              <a:t>OUrban</a:t>
            </a:r>
            <a:r>
              <a:rPr dirty="0" sz="1650" spc="-225"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Legend</a:t>
            </a:r>
            <a:endParaRPr sz="1650">
              <a:latin typeface="Arial MT"/>
              <a:cs typeface="Arial MT"/>
            </a:endParaRPr>
          </a:p>
          <a:p>
            <a:pPr marL="579120">
              <a:lnSpc>
                <a:spcPct val="100000"/>
              </a:lnSpc>
              <a:spcBef>
                <a:spcPts val="869"/>
              </a:spcBef>
            </a:pPr>
            <a:r>
              <a:rPr dirty="0" sz="1600" spc="-10">
                <a:latin typeface="Arial MT"/>
                <a:cs typeface="Arial MT"/>
              </a:rPr>
              <a:t>PixelPro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6553764" y="6051902"/>
            <a:ext cx="590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30">
                <a:solidFill>
                  <a:srgbClr val="777777"/>
                </a:solidFill>
                <a:latin typeface="Arial MT"/>
                <a:cs typeface="Arial MT"/>
              </a:rPr>
              <a:t>”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335914" y="6699602"/>
            <a:ext cx="22453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"/>
                <a:cs typeface="Cambria"/>
              </a:rPr>
              <a:t>Community</a:t>
            </a:r>
            <a:r>
              <a:rPr dirty="0" sz="1600" spc="265">
                <a:latin typeface="Cambria"/>
                <a:cs typeface="Cambria"/>
              </a:rPr>
              <a:t> </a:t>
            </a:r>
            <a:r>
              <a:rPr dirty="0" sz="1600" spc="-10">
                <a:latin typeface="Cambria"/>
                <a:cs typeface="Cambria"/>
              </a:rPr>
              <a:t>Leaderboard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6300" y="3289300"/>
            <a:ext cx="16459200" cy="6464300"/>
            <a:chOff x="876300" y="3289300"/>
            <a:chExt cx="16459200" cy="64643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300" y="3289300"/>
              <a:ext cx="16459200" cy="64643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8200" y="4381500"/>
              <a:ext cx="1092200" cy="254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6121" y="600074"/>
            <a:ext cx="11685905" cy="6921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350" spc="100">
                <a:solidFill>
                  <a:srgbClr val="000000"/>
                </a:solidFill>
              </a:rPr>
              <a:t>Forging</a:t>
            </a:r>
            <a:r>
              <a:rPr dirty="0" sz="4350" spc="-150">
                <a:solidFill>
                  <a:srgbClr val="000000"/>
                </a:solidFill>
              </a:rPr>
              <a:t> </a:t>
            </a:r>
            <a:r>
              <a:rPr dirty="0" sz="4350" spc="70">
                <a:solidFill>
                  <a:srgbClr val="000000"/>
                </a:solidFill>
              </a:rPr>
              <a:t>Social</a:t>
            </a:r>
            <a:r>
              <a:rPr dirty="0" sz="4350" spc="-145">
                <a:solidFill>
                  <a:srgbClr val="000000"/>
                </a:solidFill>
              </a:rPr>
              <a:t> </a:t>
            </a:r>
            <a:r>
              <a:rPr dirty="0" sz="4350" spc="130">
                <a:solidFill>
                  <a:srgbClr val="000000"/>
                </a:solidFill>
              </a:rPr>
              <a:t>Connections</a:t>
            </a:r>
            <a:r>
              <a:rPr dirty="0" sz="4350" spc="105">
                <a:solidFill>
                  <a:srgbClr val="000000"/>
                </a:solidFill>
              </a:rPr>
              <a:t> </a:t>
            </a:r>
            <a:r>
              <a:rPr dirty="0" sz="4350" spc="95">
                <a:solidFill>
                  <a:srgbClr val="000000"/>
                </a:solidFill>
              </a:rPr>
              <a:t>in</a:t>
            </a:r>
            <a:r>
              <a:rPr dirty="0" sz="4350" spc="-30">
                <a:solidFill>
                  <a:srgbClr val="000000"/>
                </a:solidFill>
              </a:rPr>
              <a:t> </a:t>
            </a:r>
            <a:r>
              <a:rPr dirty="0" sz="4350" spc="114">
                <a:solidFill>
                  <a:srgbClr val="000000"/>
                </a:solidFill>
              </a:rPr>
              <a:t>the</a:t>
            </a:r>
            <a:r>
              <a:rPr dirty="0" sz="4350" spc="45">
                <a:solidFill>
                  <a:srgbClr val="000000"/>
                </a:solidFill>
              </a:rPr>
              <a:t> </a:t>
            </a:r>
            <a:r>
              <a:rPr dirty="0" sz="4350" spc="-10">
                <a:solidFill>
                  <a:srgbClr val="000000"/>
                </a:solidFill>
              </a:rPr>
              <a:t>Real</a:t>
            </a:r>
            <a:r>
              <a:rPr dirty="0" sz="4350" spc="-75">
                <a:solidFill>
                  <a:srgbClr val="000000"/>
                </a:solidFill>
              </a:rPr>
              <a:t> </a:t>
            </a:r>
            <a:r>
              <a:rPr dirty="0" sz="4350" spc="120">
                <a:solidFill>
                  <a:srgbClr val="000000"/>
                </a:solidFill>
              </a:rPr>
              <a:t>World</a:t>
            </a:r>
            <a:endParaRPr sz="4350"/>
          </a:p>
        </p:txBody>
      </p:sp>
      <p:sp>
        <p:nvSpPr>
          <p:cNvPr id="6" name="object 6" descr=""/>
          <p:cNvSpPr txBox="1"/>
          <p:nvPr/>
        </p:nvSpPr>
        <p:spPr>
          <a:xfrm>
            <a:off x="864025" y="1444977"/>
            <a:ext cx="14649450" cy="1320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2700">
              <a:lnSpc>
                <a:spcPct val="109000"/>
              </a:lnSpc>
              <a:spcBef>
                <a:spcPts val="90"/>
              </a:spcBef>
            </a:pPr>
            <a:r>
              <a:rPr dirty="0" sz="2600" spc="-295">
                <a:latin typeface="Arial MT"/>
                <a:cs typeface="Arial MT"/>
              </a:rPr>
              <a:t>AR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World</a:t>
            </a:r>
            <a:r>
              <a:rPr dirty="0" sz="2600" spc="-18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Builder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integrates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core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social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features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 spc="60">
                <a:latin typeface="Arial MT"/>
                <a:cs typeface="Arial MT"/>
              </a:rPr>
              <a:t>to</a:t>
            </a:r>
            <a:r>
              <a:rPr dirty="0" sz="2600" spc="-1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build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7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network </a:t>
            </a:r>
            <a:r>
              <a:rPr dirty="0" sz="2600" spc="-10">
                <a:latin typeface="Arial MT"/>
                <a:cs typeface="Arial MT"/>
              </a:rPr>
              <a:t>based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30">
                <a:latin typeface="Arial MT"/>
                <a:cs typeface="Arial MT"/>
              </a:rPr>
              <a:t>shared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locations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and experiences.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This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system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builds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social</a:t>
            </a:r>
            <a:r>
              <a:rPr dirty="0" sz="2600" spc="-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connections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that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65">
                <a:latin typeface="Arial MT"/>
                <a:cs typeface="Arial MT"/>
              </a:rPr>
              <a:t>are</a:t>
            </a:r>
            <a:r>
              <a:rPr dirty="0" sz="2600" spc="-114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anchored</a:t>
            </a:r>
            <a:r>
              <a:rPr dirty="0" sz="2600" spc="5">
                <a:latin typeface="Arial MT"/>
                <a:cs typeface="Arial MT"/>
              </a:rPr>
              <a:t> </a:t>
            </a:r>
            <a:r>
              <a:rPr dirty="0" sz="2600" spc="60">
                <a:latin typeface="Arial MT"/>
                <a:cs typeface="Arial MT"/>
              </a:rPr>
              <a:t>to</a:t>
            </a:r>
            <a:r>
              <a:rPr dirty="0" sz="2600" spc="-18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real-</a:t>
            </a:r>
            <a:r>
              <a:rPr dirty="0" sz="2600">
                <a:latin typeface="Arial MT"/>
                <a:cs typeface="Arial MT"/>
              </a:rPr>
              <a:t>world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20">
                <a:latin typeface="Arial MT"/>
                <a:cs typeface="Arial MT"/>
              </a:rPr>
              <a:t>places,</a:t>
            </a:r>
            <a:r>
              <a:rPr dirty="0" sz="2600" spc="-10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creating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50">
                <a:latin typeface="Arial MT"/>
                <a:cs typeface="Arial MT"/>
              </a:rPr>
              <a:t>a </a:t>
            </a:r>
            <a:r>
              <a:rPr dirty="0" sz="2600">
                <a:latin typeface="Arial MT"/>
                <a:cs typeface="Arial MT"/>
              </a:rPr>
              <a:t>powerful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retention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mechanic.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40319" y="5120922"/>
            <a:ext cx="1285240" cy="1047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latin typeface="Arial MT"/>
                <a:cs typeface="Arial MT"/>
              </a:rPr>
              <a:t>OCit'/Ex</a:t>
            </a:r>
            <a:r>
              <a:rPr dirty="0" baseline="-11111" sz="2250" spc="-15">
                <a:latin typeface="Arial MT"/>
                <a:cs typeface="Arial MT"/>
              </a:rPr>
              <a:t>piorer</a:t>
            </a:r>
            <a:endParaRPr baseline="-11111"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500">
              <a:latin typeface="Arial MT"/>
              <a:cs typeface="Arial MT"/>
            </a:endParaRPr>
          </a:p>
          <a:p>
            <a:pPr marL="52705">
              <a:lnSpc>
                <a:spcPct val="100000"/>
              </a:lnSpc>
              <a:tabLst>
                <a:tab pos="325755" algn="l"/>
              </a:tabLst>
            </a:pPr>
            <a:r>
              <a:rPr dirty="0" sz="1600" spc="-50">
                <a:latin typeface="Arial MT"/>
                <a:cs typeface="Arial MT"/>
              </a:rPr>
              <a:t>e</a:t>
            </a:r>
            <a:r>
              <a:rPr dirty="0" sz="1600">
                <a:latin typeface="Arial MT"/>
                <a:cs typeface="Arial MT"/>
              </a:rPr>
              <a:t>	i</a:t>
            </a:r>
            <a:r>
              <a:rPr dirty="0" sz="1600" spc="355">
                <a:latin typeface="Arial MT"/>
                <a:cs typeface="Arial MT"/>
              </a:rPr>
              <a:t> </a:t>
            </a:r>
            <a:r>
              <a:rPr dirty="0" sz="1600" spc="-50">
                <a:latin typeface="Arial MT"/>
                <a:cs typeface="Arial MT"/>
              </a:rPr>
              <a:t>elPioneer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42593" y="7413272"/>
            <a:ext cx="1680210" cy="9810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25"/>
              </a:spcBef>
            </a:pPr>
            <a:r>
              <a:rPr dirty="0" baseline="-5555" sz="2250" spc="-15">
                <a:latin typeface="Arial MT"/>
                <a:cs typeface="Arial MT"/>
              </a:rPr>
              <a:t>@De</a:t>
            </a:r>
            <a:r>
              <a:rPr dirty="0" sz="1500" spc="-10">
                <a:latin typeface="Arial MT"/>
                <a:cs typeface="Arial MT"/>
              </a:rPr>
              <a:t>signJu</a:t>
            </a:r>
            <a:r>
              <a:rPr dirty="0" baseline="5555" sz="2250" spc="-15">
                <a:latin typeface="Arial MT"/>
                <a:cs typeface="Arial MT"/>
              </a:rPr>
              <a:t>nkie</a:t>
            </a:r>
            <a:endParaRPr baseline="5555" sz="22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5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dirty="0" baseline="-19607" sz="2550" spc="-165">
                <a:latin typeface="Arial MT"/>
                <a:cs typeface="Arial MT"/>
              </a:rPr>
              <a:t>gA</a:t>
            </a:r>
            <a:r>
              <a:rPr dirty="0" baseline="-16339" sz="2550" spc="-165">
                <a:latin typeface="Arial MT"/>
                <a:cs typeface="Arial MT"/>
              </a:rPr>
              <a:t>ur</a:t>
            </a:r>
            <a:r>
              <a:rPr dirty="0" baseline="-13071" sz="2550" spc="-165">
                <a:latin typeface="Arial MT"/>
                <a:cs typeface="Arial MT"/>
              </a:rPr>
              <a:t>aT</a:t>
            </a:r>
            <a:r>
              <a:rPr dirty="0" baseline="-8169" sz="2550" spc="-165">
                <a:latin typeface="Arial MT"/>
                <a:cs typeface="Arial MT"/>
              </a:rPr>
              <a:t>heA</a:t>
            </a:r>
            <a:r>
              <a:rPr dirty="0" baseline="-3267" sz="2550" spc="-165">
                <a:latin typeface="Arial MT"/>
                <a:cs typeface="Arial MT"/>
              </a:rPr>
              <a:t>rCh</a:t>
            </a:r>
            <a:r>
              <a:rPr dirty="0" sz="1700" spc="-110">
                <a:latin typeface="Arial MT"/>
                <a:cs typeface="Arial MT"/>
              </a:rPr>
              <a:t>itec</a:t>
            </a:r>
            <a:r>
              <a:rPr dirty="0" baseline="3267" sz="2550" spc="-165">
                <a:latin typeface="Arial MT"/>
                <a:cs typeface="Arial MT"/>
              </a:rPr>
              <a:t>t</a:t>
            </a:r>
            <a:endParaRPr baseline="3267" sz="2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579454" y="4540955"/>
            <a:ext cx="106235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70">
                <a:latin typeface="Arial MT"/>
                <a:cs typeface="Arial MT"/>
              </a:rPr>
              <a:t>eci</a:t>
            </a:r>
            <a:r>
              <a:rPr dirty="0" sz="1950" spc="-114">
                <a:latin typeface="Arial MT"/>
                <a:cs typeface="Arial MT"/>
              </a:rPr>
              <a:t> </a:t>
            </a:r>
            <a:r>
              <a:rPr dirty="0" sz="1950" spc="-335">
                <a:latin typeface="Arial MT"/>
                <a:cs typeface="Arial MT"/>
              </a:rPr>
              <a:t>yExplorer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445167" y="6563783"/>
            <a:ext cx="198564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210">
                <a:solidFill>
                  <a:srgbClr val="1C1C1C"/>
                </a:solidFill>
                <a:latin typeface="Arial MT"/>
                <a:cs typeface="Arial MT"/>
              </a:rPr>
              <a:t>On</a:t>
            </a:r>
            <a:r>
              <a:rPr dirty="0" sz="1650" spc="-114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650" spc="-165">
                <a:solidFill>
                  <a:srgbClr val="3A3A3A"/>
                </a:solidFill>
                <a:latin typeface="Arial MT"/>
                <a:cs typeface="Arial MT"/>
              </a:rPr>
              <a:t>my</a:t>
            </a:r>
            <a:r>
              <a:rPr dirty="0" sz="1650" spc="45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1650" spc="-80">
                <a:latin typeface="Arial MT"/>
                <a:cs typeface="Arial MT"/>
              </a:rPr>
              <a:t>wayl</a:t>
            </a:r>
            <a:r>
              <a:rPr dirty="0" sz="1650">
                <a:latin typeface="Arial MT"/>
                <a:cs typeface="Arial MT"/>
              </a:rPr>
              <a:t> </a:t>
            </a:r>
            <a:r>
              <a:rPr dirty="0" sz="1650" spc="-160">
                <a:solidFill>
                  <a:srgbClr val="050505"/>
                </a:solidFill>
                <a:latin typeface="Arial MT"/>
                <a:cs typeface="Arial MT"/>
              </a:rPr>
              <a:t>See</a:t>
            </a:r>
            <a:r>
              <a:rPr dirty="0" sz="1650" spc="4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151515"/>
                </a:solidFill>
                <a:latin typeface="Arial MT"/>
                <a:cs typeface="Arial MT"/>
              </a:rPr>
              <a:t>it</a:t>
            </a:r>
            <a:r>
              <a:rPr dirty="0" sz="1650" spc="1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latin typeface="Arial MT"/>
                <a:cs typeface="Arial MT"/>
              </a:rPr>
              <a:t>now.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8800" y="8026400"/>
            <a:ext cx="876300" cy="876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5900" y="8026400"/>
            <a:ext cx="812800" cy="863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08400" y="4025900"/>
            <a:ext cx="4254500" cy="23368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80900" y="4229100"/>
            <a:ext cx="1498600" cy="444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850900"/>
            <a:ext cx="17475200" cy="60960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9362016" y="4842933"/>
            <a:ext cx="0" cy="774700"/>
          </a:xfrm>
          <a:custGeom>
            <a:avLst/>
            <a:gdLst/>
            <a:ahLst/>
            <a:cxnLst/>
            <a:rect l="l" t="t" r="r" b="b"/>
            <a:pathLst>
              <a:path w="0" h="774700">
                <a:moveTo>
                  <a:pt x="0" y="774700"/>
                </a:moveTo>
                <a:lnTo>
                  <a:pt x="0" y="0"/>
                </a:lnTo>
              </a:path>
            </a:pathLst>
          </a:custGeom>
          <a:ln w="21166">
            <a:solidFill>
              <a:srgbClr val="1C60C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351433" y="4821766"/>
            <a:ext cx="3408045" cy="796290"/>
            <a:chOff x="9351433" y="4821766"/>
            <a:chExt cx="3408045" cy="796290"/>
          </a:xfrm>
        </p:grpSpPr>
        <p:sp>
          <p:nvSpPr>
            <p:cNvPr id="9" name="object 9" descr=""/>
            <p:cNvSpPr/>
            <p:nvPr/>
          </p:nvSpPr>
          <p:spPr>
            <a:xfrm>
              <a:off x="12748683" y="4842932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w="0" h="774700">
                  <a:moveTo>
                    <a:pt x="0" y="774700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1C60C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351433" y="4853516"/>
              <a:ext cx="3408045" cy="0"/>
            </a:xfrm>
            <a:custGeom>
              <a:avLst/>
              <a:gdLst/>
              <a:ahLst/>
              <a:cxnLst/>
              <a:rect l="l" t="t" r="r" b="b"/>
              <a:pathLst>
                <a:path w="3408045" h="0">
                  <a:moveTo>
                    <a:pt x="0" y="0"/>
                  </a:moveTo>
                  <a:lnTo>
                    <a:pt x="3407833" y="0"/>
                  </a:lnTo>
                </a:path>
              </a:pathLst>
            </a:custGeom>
            <a:ln w="21166">
              <a:solidFill>
                <a:srgbClr val="1C60C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351433" y="5607050"/>
              <a:ext cx="3408045" cy="0"/>
            </a:xfrm>
            <a:custGeom>
              <a:avLst/>
              <a:gdLst/>
              <a:ahLst/>
              <a:cxnLst/>
              <a:rect l="l" t="t" r="r" b="b"/>
              <a:pathLst>
                <a:path w="3408045" h="0">
                  <a:moveTo>
                    <a:pt x="0" y="0"/>
                  </a:moveTo>
                  <a:lnTo>
                    <a:pt x="3407833" y="0"/>
                  </a:lnTo>
                </a:path>
              </a:pathLst>
            </a:custGeom>
            <a:ln w="21166">
              <a:solidFill>
                <a:srgbClr val="1C60C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436100" y="4836583"/>
              <a:ext cx="3306445" cy="0"/>
            </a:xfrm>
            <a:custGeom>
              <a:avLst/>
              <a:gdLst/>
              <a:ahLst/>
              <a:cxnLst/>
              <a:rect l="l" t="t" r="r" b="b"/>
              <a:pathLst>
                <a:path w="3306445" h="0">
                  <a:moveTo>
                    <a:pt x="0" y="0"/>
                  </a:moveTo>
                  <a:lnTo>
                    <a:pt x="3306233" y="0"/>
                  </a:lnTo>
                </a:path>
              </a:pathLst>
            </a:custGeom>
            <a:ln w="29633">
              <a:solidFill>
                <a:srgbClr val="1C60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02606" y="690738"/>
            <a:ext cx="15289530" cy="766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850" spc="-135"/>
              <a:t>A</a:t>
            </a:r>
            <a:r>
              <a:rPr dirty="0" sz="4850" spc="-245"/>
              <a:t> </a:t>
            </a:r>
            <a:r>
              <a:rPr dirty="0" sz="4850">
                <a:solidFill>
                  <a:srgbClr val="161616"/>
                </a:solidFill>
              </a:rPr>
              <a:t>Permanent</a:t>
            </a:r>
            <a:r>
              <a:rPr dirty="0" sz="4850" spc="-15">
                <a:solidFill>
                  <a:srgbClr val="161616"/>
                </a:solidFill>
              </a:rPr>
              <a:t> </a:t>
            </a:r>
            <a:r>
              <a:rPr dirty="0" sz="4850">
                <a:solidFill>
                  <a:srgbClr val="131313"/>
                </a:solidFill>
              </a:rPr>
              <a:t>Layer</a:t>
            </a:r>
            <a:r>
              <a:rPr dirty="0" sz="4850" spc="105">
                <a:solidFill>
                  <a:srgbClr val="131313"/>
                </a:solidFill>
              </a:rPr>
              <a:t> </a:t>
            </a:r>
            <a:r>
              <a:rPr dirty="0" sz="4850" spc="90">
                <a:solidFill>
                  <a:srgbClr val="181818"/>
                </a:solidFill>
              </a:rPr>
              <a:t>for</a:t>
            </a:r>
            <a:r>
              <a:rPr dirty="0" sz="4850" spc="-340">
                <a:solidFill>
                  <a:srgbClr val="181818"/>
                </a:solidFill>
              </a:rPr>
              <a:t> </a:t>
            </a:r>
            <a:r>
              <a:rPr dirty="0" sz="4850" spc="105">
                <a:solidFill>
                  <a:srgbClr val="181818"/>
                </a:solidFill>
              </a:rPr>
              <a:t>Information</a:t>
            </a:r>
            <a:r>
              <a:rPr dirty="0" sz="4850" spc="-150">
                <a:solidFill>
                  <a:srgbClr val="181818"/>
                </a:solidFill>
              </a:rPr>
              <a:t> </a:t>
            </a:r>
            <a:r>
              <a:rPr dirty="0" sz="4850">
                <a:solidFill>
                  <a:srgbClr val="1A1A1A"/>
                </a:solidFill>
              </a:rPr>
              <a:t>and</a:t>
            </a:r>
            <a:r>
              <a:rPr dirty="0" sz="4850" spc="-340">
                <a:solidFill>
                  <a:srgbClr val="1A1A1A"/>
                </a:solidFill>
              </a:rPr>
              <a:t> </a:t>
            </a:r>
            <a:r>
              <a:rPr dirty="0" sz="4850" spc="35">
                <a:solidFill>
                  <a:srgbClr val="161616"/>
                </a:solidFill>
              </a:rPr>
              <a:t>Communication</a:t>
            </a:r>
            <a:endParaRPr sz="4850"/>
          </a:p>
        </p:txBody>
      </p:sp>
      <p:sp>
        <p:nvSpPr>
          <p:cNvPr id="14" name="object 14" descr=""/>
          <p:cNvSpPr txBox="1"/>
          <p:nvPr/>
        </p:nvSpPr>
        <p:spPr>
          <a:xfrm>
            <a:off x="886925" y="1573036"/>
            <a:ext cx="14262100" cy="19824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130">
              <a:lnSpc>
                <a:spcPts val="3725"/>
              </a:lnSpc>
              <a:spcBef>
                <a:spcPts val="110"/>
              </a:spcBef>
            </a:pPr>
            <a:r>
              <a:rPr dirty="0" sz="3250" spc="-65">
                <a:latin typeface="Times New Roman"/>
                <a:cs typeface="Times New Roman"/>
              </a:rPr>
              <a:t>Alongside</a:t>
            </a:r>
            <a:r>
              <a:rPr dirty="0" sz="3250" spc="2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gameplay-oriented</a:t>
            </a:r>
            <a:r>
              <a:rPr dirty="0" sz="3250" spc="-125">
                <a:latin typeface="Times New Roman"/>
                <a:cs typeface="Times New Roman"/>
              </a:rPr>
              <a:t> </a:t>
            </a:r>
            <a:r>
              <a:rPr dirty="0" sz="3250" spc="-114">
                <a:latin typeface="Times New Roman"/>
                <a:cs typeface="Times New Roman"/>
              </a:rPr>
              <a:t>Blocks,</a:t>
            </a:r>
            <a:r>
              <a:rPr dirty="0" sz="3250" spc="2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the</a:t>
            </a:r>
            <a:r>
              <a:rPr dirty="0" sz="3250" spc="-130">
                <a:latin typeface="Times New Roman"/>
                <a:cs typeface="Times New Roman"/>
              </a:rPr>
              <a:t> </a:t>
            </a:r>
            <a:r>
              <a:rPr dirty="0" sz="3250" spc="-60">
                <a:latin typeface="Times New Roman"/>
                <a:cs typeface="Times New Roman"/>
              </a:rPr>
              <a:t>world</a:t>
            </a:r>
            <a:r>
              <a:rPr dirty="0" sz="3250" spc="1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contains</a:t>
            </a:r>
            <a:r>
              <a:rPr dirty="0" sz="3250" spc="65">
                <a:latin typeface="Times New Roman"/>
                <a:cs typeface="Times New Roman"/>
              </a:rPr>
              <a:t> </a:t>
            </a:r>
            <a:r>
              <a:rPr dirty="0" sz="3250" spc="-60">
                <a:latin typeface="Times New Roman"/>
                <a:cs typeface="Times New Roman"/>
              </a:rPr>
              <a:t>Messages.</a:t>
            </a:r>
            <a:r>
              <a:rPr dirty="0" sz="3250" spc="-8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These</a:t>
            </a:r>
            <a:r>
              <a:rPr dirty="0" sz="3250" spc="-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are</a:t>
            </a:r>
            <a:r>
              <a:rPr dirty="0" sz="3250" spc="-135">
                <a:latin typeface="Times New Roman"/>
                <a:cs typeface="Times New Roman"/>
              </a:rPr>
              <a:t> </a:t>
            </a:r>
            <a:r>
              <a:rPr dirty="0" sz="3250" spc="55">
                <a:latin typeface="Times New Roman"/>
                <a:cs typeface="Times New Roman"/>
              </a:rPr>
              <a:t>a</a:t>
            </a:r>
            <a:r>
              <a:rPr dirty="0" sz="3250" spc="-190">
                <a:latin typeface="Times New Roman"/>
                <a:cs typeface="Times New Roman"/>
              </a:rPr>
              <a:t> </a:t>
            </a:r>
            <a:r>
              <a:rPr dirty="0" sz="3250" spc="-10">
                <a:latin typeface="Times New Roman"/>
                <a:cs typeface="Times New Roman"/>
              </a:rPr>
              <a:t>distinct</a:t>
            </a: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ts val="3904"/>
              </a:lnSpc>
            </a:pPr>
            <a:r>
              <a:rPr dirty="0" sz="3400" spc="-20">
                <a:latin typeface="Times New Roman"/>
                <a:cs typeface="Times New Roman"/>
              </a:rPr>
              <a:t>content</a:t>
            </a:r>
            <a:r>
              <a:rPr dirty="0" sz="3400" spc="-195">
                <a:latin typeface="Times New Roman"/>
                <a:cs typeface="Times New Roman"/>
              </a:rPr>
              <a:t> </a:t>
            </a:r>
            <a:r>
              <a:rPr dirty="0" sz="3400" spc="-20">
                <a:latin typeface="Times New Roman"/>
                <a:cs typeface="Times New Roman"/>
              </a:rPr>
              <a:t>type</a:t>
            </a:r>
            <a:r>
              <a:rPr dirty="0" sz="3400" spc="-190">
                <a:latin typeface="Times New Roman"/>
                <a:cs typeface="Times New Roman"/>
              </a:rPr>
              <a:t> </a:t>
            </a:r>
            <a:r>
              <a:rPr dirty="0" sz="3400" spc="-50">
                <a:latin typeface="Times New Roman"/>
                <a:cs typeface="Times New Roman"/>
              </a:rPr>
              <a:t>used</a:t>
            </a:r>
            <a:r>
              <a:rPr dirty="0" sz="3400" spc="-95">
                <a:latin typeface="Times New Roman"/>
                <a:cs typeface="Times New Roman"/>
              </a:rPr>
              <a:t> </a:t>
            </a:r>
            <a:r>
              <a:rPr dirty="0" sz="3400" spc="-114">
                <a:latin typeface="Times New Roman"/>
                <a:cs typeface="Times New Roman"/>
              </a:rPr>
              <a:t>purely</a:t>
            </a:r>
            <a:r>
              <a:rPr dirty="0" sz="3400" spc="-100">
                <a:latin typeface="Times New Roman"/>
                <a:cs typeface="Times New Roman"/>
              </a:rPr>
              <a:t> </a:t>
            </a:r>
            <a:r>
              <a:rPr dirty="0" sz="3400" spc="-120">
                <a:latin typeface="Times New Roman"/>
                <a:cs typeface="Times New Roman"/>
              </a:rPr>
              <a:t>for</a:t>
            </a:r>
            <a:r>
              <a:rPr dirty="0" sz="3400" spc="-90">
                <a:latin typeface="Times New Roman"/>
                <a:cs typeface="Times New Roman"/>
              </a:rPr>
              <a:t> </a:t>
            </a:r>
            <a:r>
              <a:rPr dirty="0" sz="3400" spc="-80">
                <a:latin typeface="Times New Roman"/>
                <a:cs typeface="Times New Roman"/>
              </a:rPr>
              <a:t>communication,</a:t>
            </a:r>
            <a:r>
              <a:rPr dirty="0" sz="3400" spc="-135">
                <a:latin typeface="Times New Roman"/>
                <a:cs typeface="Times New Roman"/>
              </a:rPr>
              <a:t> </a:t>
            </a:r>
            <a:r>
              <a:rPr dirty="0" sz="3400" spc="-85">
                <a:latin typeface="Times New Roman"/>
                <a:cs typeface="Times New Roman"/>
              </a:rPr>
              <a:t>with</a:t>
            </a:r>
            <a:r>
              <a:rPr dirty="0" sz="3400" spc="-125">
                <a:latin typeface="Times New Roman"/>
                <a:cs typeface="Times New Roman"/>
              </a:rPr>
              <a:t> </a:t>
            </a:r>
            <a:r>
              <a:rPr dirty="0" sz="3400" spc="-65">
                <a:latin typeface="Times New Roman"/>
                <a:cs typeface="Times New Roman"/>
              </a:rPr>
              <a:t>different</a:t>
            </a:r>
            <a:r>
              <a:rPr dirty="0" sz="3400" spc="-40">
                <a:latin typeface="Times New Roman"/>
                <a:cs typeface="Times New Roman"/>
              </a:rPr>
              <a:t> </a:t>
            </a:r>
            <a:r>
              <a:rPr dirty="0" sz="3400" spc="-65">
                <a:latin typeface="Times New Roman"/>
                <a:cs typeface="Times New Roman"/>
              </a:rPr>
              <a:t>rules</a:t>
            </a:r>
            <a:r>
              <a:rPr dirty="0" sz="3400" spc="-140">
                <a:latin typeface="Times New Roman"/>
                <a:cs typeface="Times New Roman"/>
              </a:rPr>
              <a:t> </a:t>
            </a:r>
            <a:r>
              <a:rPr dirty="0" sz="3400">
                <a:latin typeface="Times New Roman"/>
                <a:cs typeface="Times New Roman"/>
              </a:rPr>
              <a:t>and</a:t>
            </a:r>
            <a:r>
              <a:rPr dirty="0" sz="3400" spc="-110">
                <a:latin typeface="Times New Roman"/>
                <a:cs typeface="Times New Roman"/>
              </a:rPr>
              <a:t> </a:t>
            </a:r>
            <a:r>
              <a:rPr dirty="0" sz="3400" spc="-10">
                <a:latin typeface="Times New Roman"/>
                <a:cs typeface="Times New Roman"/>
              </a:rPr>
              <a:t>purposes.</a:t>
            </a: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3400">
              <a:latin typeface="Times New Roman"/>
              <a:cs typeface="Times New Roman"/>
            </a:endParaRPr>
          </a:p>
          <a:p>
            <a:pPr marL="4840605">
              <a:lnSpc>
                <a:spcPct val="100000"/>
              </a:lnSpc>
              <a:spcBef>
                <a:spcPts val="5"/>
              </a:spcBef>
              <a:tabLst>
                <a:tab pos="9284970" algn="l"/>
              </a:tabLst>
            </a:pPr>
            <a:r>
              <a:rPr dirty="0" sz="2700" spc="-10">
                <a:latin typeface="Arial MT"/>
                <a:cs typeface="Arial MT"/>
              </a:rPr>
              <a:t>BLOCKS</a:t>
            </a:r>
            <a:r>
              <a:rPr dirty="0" sz="2700">
                <a:latin typeface="Arial MT"/>
                <a:cs typeface="Arial MT"/>
              </a:rPr>
              <a:t>	</a:t>
            </a:r>
            <a:r>
              <a:rPr dirty="0" sz="2700" spc="-40">
                <a:latin typeface="Arial MT"/>
                <a:cs typeface="Arial MT"/>
              </a:rPr>
              <a:t>MESSAGES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55087" y="3980391"/>
            <a:ext cx="1995805" cy="1723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9230">
              <a:lnSpc>
                <a:spcPts val="3170"/>
              </a:lnSpc>
              <a:spcBef>
                <a:spcPts val="105"/>
              </a:spcBef>
            </a:pPr>
            <a:r>
              <a:rPr dirty="0" sz="2700" spc="-10">
                <a:latin typeface="Arial MT"/>
                <a:cs typeface="Arial MT"/>
              </a:rPr>
              <a:t>Temporary,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3410"/>
              </a:lnSpc>
            </a:pPr>
            <a:r>
              <a:rPr dirty="0" sz="2900" spc="-85">
                <a:solidFill>
                  <a:srgbClr val="0A0A0A"/>
                </a:solidFill>
                <a:latin typeface="Arial MT"/>
                <a:cs typeface="Arial MT"/>
              </a:rPr>
              <a:t>Gives</a:t>
            </a:r>
            <a:r>
              <a:rPr dirty="0" sz="2900" spc="-10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900" spc="-40">
                <a:solidFill>
                  <a:srgbClr val="0E0E0E"/>
                </a:solidFill>
                <a:latin typeface="Arial MT"/>
                <a:cs typeface="Arial MT"/>
              </a:rPr>
              <a:t>Points</a:t>
            </a:r>
            <a:endParaRPr sz="2900">
              <a:latin typeface="Arial MT"/>
              <a:cs typeface="Arial MT"/>
            </a:endParaRPr>
          </a:p>
          <a:p>
            <a:pPr algn="r" marR="24130">
              <a:lnSpc>
                <a:spcPts val="2570"/>
              </a:lnSpc>
              <a:spcBef>
                <a:spcPts val="1520"/>
              </a:spcBef>
            </a:pPr>
            <a:r>
              <a:rPr dirty="0" sz="2200" spc="-40">
                <a:latin typeface="Arial MT"/>
                <a:cs typeface="Arial MT"/>
              </a:rPr>
              <a:t>The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Gameplay</a:t>
            </a:r>
            <a:endParaRPr sz="2200">
              <a:latin typeface="Arial MT"/>
              <a:cs typeface="Arial MT"/>
            </a:endParaRPr>
          </a:p>
          <a:p>
            <a:pPr algn="r" marR="18415">
              <a:lnSpc>
                <a:spcPts val="2690"/>
              </a:lnSpc>
            </a:pPr>
            <a:r>
              <a:rPr dirty="0" sz="2300" spc="-10">
                <a:latin typeface="Arial MT"/>
                <a:cs typeface="Arial MT"/>
              </a:rPr>
              <a:t>Layer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372599" y="5002388"/>
            <a:ext cx="336550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37490">
              <a:lnSpc>
                <a:spcPct val="100000"/>
              </a:lnSpc>
              <a:spcBef>
                <a:spcPts val="110"/>
              </a:spcBef>
            </a:pPr>
            <a:r>
              <a:rPr dirty="0" sz="2350" spc="-10">
                <a:latin typeface="Arial MT"/>
                <a:cs typeface="Arial MT"/>
              </a:rPr>
              <a:t>Welcome</a:t>
            </a:r>
            <a:r>
              <a:rPr dirty="0" sz="2350" spc="8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to</a:t>
            </a:r>
            <a:r>
              <a:rPr dirty="0" sz="2350" spc="-6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our</a:t>
            </a:r>
            <a:r>
              <a:rPr dirty="0" sz="2350" spc="-1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store!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442918" y="7230533"/>
            <a:ext cx="453009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14">
                <a:latin typeface="Arial MT"/>
                <a:cs typeface="Arial MT"/>
              </a:rPr>
              <a:t>Two</a:t>
            </a:r>
            <a:r>
              <a:rPr dirty="0" sz="2900" spc="-85">
                <a:latin typeface="Arial MT"/>
                <a:cs typeface="Arial MT"/>
              </a:rPr>
              <a:t> </a:t>
            </a:r>
            <a:r>
              <a:rPr dirty="0" sz="2900" spc="-30">
                <a:latin typeface="Arial MT"/>
                <a:cs typeface="Arial MT"/>
              </a:rPr>
              <a:t>Tiers</a:t>
            </a:r>
            <a:r>
              <a:rPr dirty="0" sz="2900" spc="-12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of</a:t>
            </a:r>
            <a:r>
              <a:rPr dirty="0" sz="2900" spc="-135">
                <a:latin typeface="Arial MT"/>
                <a:cs typeface="Arial MT"/>
              </a:rPr>
              <a:t> </a:t>
            </a:r>
            <a:r>
              <a:rPr dirty="0" sz="2900" spc="-50">
                <a:latin typeface="Arial MT"/>
                <a:cs typeface="Arial MT"/>
              </a:rPr>
              <a:t>Communication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516889" y="7994650"/>
            <a:ext cx="2122170" cy="7620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 marR="5080" indent="5715">
              <a:lnSpc>
                <a:spcPts val="2800"/>
              </a:lnSpc>
              <a:spcBef>
                <a:spcPts val="360"/>
              </a:spcBef>
            </a:pPr>
            <a:r>
              <a:rPr dirty="0" sz="2500" spc="-70">
                <a:latin typeface="Arial MT"/>
                <a:cs typeface="Arial MT"/>
              </a:rPr>
              <a:t>Visible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25">
                <a:latin typeface="Arial MT"/>
                <a:cs typeface="Arial MT"/>
              </a:rPr>
              <a:t>only</a:t>
            </a:r>
            <a:r>
              <a:rPr dirty="0" sz="2500" spc="-5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to</a:t>
            </a:r>
            <a:r>
              <a:rPr dirty="0" sz="2500" spc="-105">
                <a:latin typeface="Arial MT"/>
                <a:cs typeface="Arial MT"/>
              </a:rPr>
              <a:t> </a:t>
            </a:r>
            <a:r>
              <a:rPr dirty="0" sz="2500" spc="-220">
                <a:latin typeface="Arial MT"/>
                <a:cs typeface="Arial MT"/>
              </a:rPr>
              <a:t>a </a:t>
            </a:r>
            <a:r>
              <a:rPr dirty="0" sz="2500" spc="-100">
                <a:latin typeface="Arial MT"/>
                <a:cs typeface="Arial MT"/>
              </a:rPr>
              <a:t>user‘s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friends.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182724" y="8003469"/>
            <a:ext cx="3086735" cy="75184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24130" marR="5080" indent="-12065">
              <a:lnSpc>
                <a:spcPts val="2800"/>
              </a:lnSpc>
              <a:spcBef>
                <a:spcPts val="290"/>
              </a:spcBef>
            </a:pPr>
            <a:r>
              <a:rPr dirty="0" sz="2400" spc="-20">
                <a:latin typeface="Arial MT"/>
                <a:cs typeface="Arial MT"/>
              </a:rPr>
              <a:t>Created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Brands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80">
                <a:latin typeface="Arial MT"/>
                <a:cs typeface="Arial MT"/>
              </a:rPr>
              <a:t>and </a:t>
            </a:r>
            <a:r>
              <a:rPr dirty="0" sz="2400" spc="-20">
                <a:latin typeface="Arial MT"/>
                <a:cs typeface="Arial MT"/>
              </a:rPr>
              <a:t>visible</a:t>
            </a:r>
            <a:r>
              <a:rPr dirty="0" sz="2400">
                <a:latin typeface="Arial MT"/>
                <a:cs typeface="Arial MT"/>
              </a:rPr>
              <a:t> 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everyone.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901001" y="3962752"/>
            <a:ext cx="2488565" cy="17424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ts val="3185"/>
              </a:lnSpc>
              <a:spcBef>
                <a:spcPts val="95"/>
              </a:spcBef>
            </a:pPr>
            <a:r>
              <a:rPr dirty="0" sz="2850" spc="-10">
                <a:latin typeface="Arial MT"/>
                <a:cs typeface="Arial MT"/>
              </a:rPr>
              <a:t>Permanent,</a:t>
            </a:r>
            <a:endParaRPr sz="2850">
              <a:latin typeface="Arial MT"/>
              <a:cs typeface="Arial MT"/>
            </a:endParaRPr>
          </a:p>
          <a:p>
            <a:pPr marL="12700">
              <a:lnSpc>
                <a:spcPts val="3604"/>
              </a:lnSpc>
            </a:pPr>
            <a:r>
              <a:rPr dirty="0" sz="3200" spc="-290">
                <a:solidFill>
                  <a:srgbClr val="0C0C0C"/>
                </a:solidFill>
                <a:latin typeface="Arial MT"/>
                <a:cs typeface="Arial MT"/>
              </a:rPr>
              <a:t>No</a:t>
            </a:r>
            <a:r>
              <a:rPr dirty="0" sz="3200" spc="-24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3200" spc="-35">
                <a:solidFill>
                  <a:srgbClr val="0F0F0F"/>
                </a:solidFill>
                <a:latin typeface="Arial MT"/>
                <a:cs typeface="Arial MT"/>
              </a:rPr>
              <a:t>Points</a:t>
            </a:r>
            <a:endParaRPr sz="3200">
              <a:latin typeface="Arial MT"/>
              <a:cs typeface="Arial MT"/>
            </a:endParaRPr>
          </a:p>
          <a:p>
            <a:pPr marL="23495">
              <a:lnSpc>
                <a:spcPts val="2655"/>
              </a:lnSpc>
              <a:spcBef>
                <a:spcPts val="1360"/>
              </a:spcBef>
            </a:pPr>
            <a:r>
              <a:rPr dirty="0" sz="2300" spc="-8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2300" spc="-6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latin typeface="Arial MT"/>
                <a:cs typeface="Arial MT"/>
              </a:rPr>
              <a:t>Communication</a:t>
            </a:r>
            <a:endParaRPr sz="2300">
              <a:latin typeface="Arial MT"/>
              <a:cs typeface="Arial MT"/>
            </a:endParaRPr>
          </a:p>
          <a:p>
            <a:pPr marL="21590">
              <a:lnSpc>
                <a:spcPts val="2715"/>
              </a:lnSpc>
            </a:pPr>
            <a:r>
              <a:rPr dirty="0" sz="2350" spc="-10">
                <a:latin typeface="Arial MT"/>
                <a:cs typeface="Arial MT"/>
              </a:rPr>
              <a:t>Layer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114255" y="9439980"/>
            <a:ext cx="122872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W</a:t>
            </a:r>
            <a:r>
              <a:rPr dirty="0" sz="1300" spc="3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0" y="4140200"/>
            <a:ext cx="1130300" cy="482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4500" y="3390900"/>
            <a:ext cx="622300" cy="635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68200" y="3403600"/>
            <a:ext cx="1320800" cy="1206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13858" y="890411"/>
            <a:ext cx="14227175" cy="8089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409">
                <a:solidFill>
                  <a:srgbClr val="212121"/>
                </a:solidFill>
              </a:rPr>
              <a:t>A</a:t>
            </a:r>
            <a:r>
              <a:rPr dirty="0" sz="5100" spc="-340">
                <a:solidFill>
                  <a:srgbClr val="212121"/>
                </a:solidFill>
              </a:rPr>
              <a:t> </a:t>
            </a:r>
            <a:r>
              <a:rPr dirty="0" sz="5100" spc="-75">
                <a:solidFill>
                  <a:srgbClr val="1A1A1A"/>
                </a:solidFill>
              </a:rPr>
              <a:t>Platform</a:t>
            </a:r>
            <a:r>
              <a:rPr dirty="0" sz="5100" spc="-280">
                <a:solidFill>
                  <a:srgbClr val="1A1A1A"/>
                </a:solidFill>
              </a:rPr>
              <a:t> </a:t>
            </a:r>
            <a:r>
              <a:rPr dirty="0" sz="5100" spc="-10">
                <a:solidFill>
                  <a:srgbClr val="1A1A1A"/>
                </a:solidFill>
              </a:rPr>
              <a:t>Built</a:t>
            </a:r>
            <a:r>
              <a:rPr dirty="0" sz="5100" spc="-204">
                <a:solidFill>
                  <a:srgbClr val="1A1A1A"/>
                </a:solidFill>
              </a:rPr>
              <a:t> </a:t>
            </a:r>
            <a:r>
              <a:rPr dirty="0" sz="5100">
                <a:solidFill>
                  <a:srgbClr val="1A1A1A"/>
                </a:solidFill>
              </a:rPr>
              <a:t>for</a:t>
            </a:r>
            <a:r>
              <a:rPr dirty="0" sz="5100" spc="-155">
                <a:solidFill>
                  <a:srgbClr val="1A1A1A"/>
                </a:solidFill>
              </a:rPr>
              <a:t> </a:t>
            </a:r>
            <a:r>
              <a:rPr dirty="0" sz="5100" spc="-235">
                <a:solidFill>
                  <a:srgbClr val="1A1A1A"/>
                </a:solidFill>
              </a:rPr>
              <a:t>Two</a:t>
            </a:r>
            <a:r>
              <a:rPr dirty="0" sz="5100" spc="-190">
                <a:solidFill>
                  <a:srgbClr val="1A1A1A"/>
                </a:solidFill>
              </a:rPr>
              <a:t> </a:t>
            </a:r>
            <a:r>
              <a:rPr dirty="0" sz="5100" spc="-110">
                <a:solidFill>
                  <a:srgbClr val="1C1C1C"/>
                </a:solidFill>
              </a:rPr>
              <a:t>Worlds:</a:t>
            </a:r>
            <a:r>
              <a:rPr dirty="0" sz="5100" spc="-350">
                <a:solidFill>
                  <a:srgbClr val="1C1C1C"/>
                </a:solidFill>
              </a:rPr>
              <a:t> </a:t>
            </a:r>
            <a:r>
              <a:rPr dirty="0" sz="5100" spc="-170">
                <a:solidFill>
                  <a:srgbClr val="1C1C1C"/>
                </a:solidFill>
              </a:rPr>
              <a:t>Players</a:t>
            </a:r>
            <a:r>
              <a:rPr dirty="0" sz="5100" spc="-175">
                <a:solidFill>
                  <a:srgbClr val="1C1C1C"/>
                </a:solidFill>
              </a:rPr>
              <a:t> </a:t>
            </a:r>
            <a:r>
              <a:rPr dirty="0" sz="5100" spc="-95">
                <a:solidFill>
                  <a:srgbClr val="1C1C1C"/>
                </a:solidFill>
              </a:rPr>
              <a:t>and</a:t>
            </a:r>
            <a:r>
              <a:rPr dirty="0" sz="5100" spc="-525">
                <a:solidFill>
                  <a:srgbClr val="1C1C1C"/>
                </a:solidFill>
              </a:rPr>
              <a:t> </a:t>
            </a:r>
            <a:r>
              <a:rPr dirty="0" sz="5100" spc="-20">
                <a:solidFill>
                  <a:srgbClr val="1D1D1D"/>
                </a:solidFill>
              </a:rPr>
              <a:t>Brands</a:t>
            </a:r>
            <a:endParaRPr sz="5100"/>
          </a:p>
        </p:txBody>
      </p:sp>
      <p:sp>
        <p:nvSpPr>
          <p:cNvPr id="6" name="object 6" descr=""/>
          <p:cNvSpPr txBox="1"/>
          <p:nvPr/>
        </p:nvSpPr>
        <p:spPr>
          <a:xfrm>
            <a:off x="2274369" y="1877130"/>
            <a:ext cx="13022580" cy="81089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407034">
              <a:lnSpc>
                <a:spcPct val="101299"/>
              </a:lnSpc>
              <a:spcBef>
                <a:spcPts val="80"/>
              </a:spcBef>
            </a:pPr>
            <a:r>
              <a:rPr dirty="0" sz="2550" spc="-25">
                <a:latin typeface="Cambria"/>
                <a:cs typeface="Cambria"/>
              </a:rPr>
              <a:t>The</a:t>
            </a:r>
            <a:r>
              <a:rPr dirty="0" sz="2550" spc="-120">
                <a:latin typeface="Cambria"/>
                <a:cs typeface="Cambria"/>
              </a:rPr>
              <a:t> </a:t>
            </a:r>
            <a:r>
              <a:rPr dirty="0" sz="2550">
                <a:latin typeface="Cambria"/>
                <a:cs typeface="Cambria"/>
              </a:rPr>
              <a:t>AR</a:t>
            </a:r>
            <a:r>
              <a:rPr dirty="0" sz="2550" spc="-140">
                <a:latin typeface="Cambria"/>
                <a:cs typeface="Cambria"/>
              </a:rPr>
              <a:t> </a:t>
            </a:r>
            <a:r>
              <a:rPr dirty="0" sz="2550" spc="-95">
                <a:latin typeface="Cambria"/>
                <a:cs typeface="Cambria"/>
              </a:rPr>
              <a:t>World</a:t>
            </a:r>
            <a:r>
              <a:rPr dirty="0" sz="2550" spc="-40">
                <a:latin typeface="Cambria"/>
                <a:cs typeface="Cambria"/>
              </a:rPr>
              <a:t> </a:t>
            </a:r>
            <a:r>
              <a:rPr dirty="0" sz="2550" spc="-65">
                <a:latin typeface="Cambria"/>
                <a:cs typeface="Cambria"/>
              </a:rPr>
              <a:t>Builder</a:t>
            </a:r>
            <a:r>
              <a:rPr dirty="0" sz="2550" spc="-80">
                <a:latin typeface="Cambria"/>
                <a:cs typeface="Cambria"/>
              </a:rPr>
              <a:t> </a:t>
            </a:r>
            <a:r>
              <a:rPr dirty="0" sz="2550" spc="-85">
                <a:latin typeface="Cambria"/>
                <a:cs typeface="Cambria"/>
              </a:rPr>
              <a:t>ecosystem</a:t>
            </a:r>
            <a:r>
              <a:rPr dirty="0" sz="2550" spc="40">
                <a:latin typeface="Cambria"/>
                <a:cs typeface="Cambria"/>
              </a:rPr>
              <a:t> </a:t>
            </a:r>
            <a:r>
              <a:rPr dirty="0" sz="2550">
                <a:latin typeface="Cambria"/>
                <a:cs typeface="Cambria"/>
              </a:rPr>
              <a:t>is</a:t>
            </a:r>
            <a:r>
              <a:rPr dirty="0" sz="2550" spc="-85">
                <a:latin typeface="Cambria"/>
                <a:cs typeface="Cambria"/>
              </a:rPr>
              <a:t> </a:t>
            </a:r>
            <a:r>
              <a:rPr dirty="0" sz="2550" spc="-75">
                <a:latin typeface="Cambria"/>
                <a:cs typeface="Cambria"/>
              </a:rPr>
              <a:t>designed</a:t>
            </a:r>
            <a:r>
              <a:rPr dirty="0" sz="2550" spc="110">
                <a:latin typeface="Cambria"/>
                <a:cs typeface="Cambria"/>
              </a:rPr>
              <a:t> </a:t>
            </a:r>
            <a:r>
              <a:rPr dirty="0" sz="2550" spc="-120">
                <a:latin typeface="Cambria"/>
                <a:cs typeface="Cambria"/>
              </a:rPr>
              <a:t>with</a:t>
            </a:r>
            <a:r>
              <a:rPr dirty="0" sz="2550" spc="-25">
                <a:latin typeface="Cambria"/>
                <a:cs typeface="Cambria"/>
              </a:rPr>
              <a:t> </a:t>
            </a:r>
            <a:r>
              <a:rPr dirty="0" sz="2550" spc="-120">
                <a:latin typeface="Cambria"/>
                <a:cs typeface="Cambria"/>
              </a:rPr>
              <a:t>two</a:t>
            </a:r>
            <a:r>
              <a:rPr dirty="0" sz="2550" spc="-30">
                <a:latin typeface="Cambria"/>
                <a:cs typeface="Cambria"/>
              </a:rPr>
              <a:t> </a:t>
            </a:r>
            <a:r>
              <a:rPr dirty="0" sz="2550" spc="-50">
                <a:latin typeface="Cambria"/>
                <a:cs typeface="Cambria"/>
              </a:rPr>
              <a:t>distinct</a:t>
            </a:r>
            <a:r>
              <a:rPr dirty="0" sz="2550" spc="65">
                <a:latin typeface="Cambria"/>
                <a:cs typeface="Cambria"/>
              </a:rPr>
              <a:t> </a:t>
            </a:r>
            <a:r>
              <a:rPr dirty="0" sz="2550" spc="-75">
                <a:latin typeface="Cambria"/>
                <a:cs typeface="Cambria"/>
              </a:rPr>
              <a:t>user</a:t>
            </a:r>
            <a:r>
              <a:rPr dirty="0" sz="2550" spc="-65">
                <a:latin typeface="Cambria"/>
                <a:cs typeface="Cambria"/>
              </a:rPr>
              <a:t> </a:t>
            </a:r>
            <a:r>
              <a:rPr dirty="0" sz="2550" spc="-70">
                <a:latin typeface="Cambria"/>
                <a:cs typeface="Cambria"/>
              </a:rPr>
              <a:t>types,</a:t>
            </a:r>
            <a:r>
              <a:rPr dirty="0" sz="2550" spc="-75">
                <a:latin typeface="Cambria"/>
                <a:cs typeface="Cambria"/>
              </a:rPr>
              <a:t> </a:t>
            </a:r>
            <a:r>
              <a:rPr dirty="0" sz="2550" spc="-40">
                <a:latin typeface="Cambria"/>
                <a:cs typeface="Cambria"/>
              </a:rPr>
              <a:t>each</a:t>
            </a:r>
            <a:r>
              <a:rPr dirty="0" sz="2550" spc="10">
                <a:latin typeface="Cambria"/>
                <a:cs typeface="Cambria"/>
              </a:rPr>
              <a:t> </a:t>
            </a:r>
            <a:r>
              <a:rPr dirty="0" sz="2550" spc="-110">
                <a:latin typeface="Cambria"/>
                <a:cs typeface="Cambria"/>
              </a:rPr>
              <a:t>with</a:t>
            </a:r>
            <a:r>
              <a:rPr dirty="0" sz="2550" spc="-35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specific </a:t>
            </a:r>
            <a:r>
              <a:rPr dirty="0" sz="2550" spc="-75">
                <a:latin typeface="Cambria"/>
                <a:cs typeface="Cambria"/>
              </a:rPr>
              <a:t>permissions</a:t>
            </a:r>
            <a:r>
              <a:rPr dirty="0" sz="2550" spc="-70">
                <a:latin typeface="Cambria"/>
                <a:cs typeface="Cambria"/>
              </a:rPr>
              <a:t> </a:t>
            </a:r>
            <a:r>
              <a:rPr dirty="0" sz="2550" spc="-40">
                <a:latin typeface="Cambria"/>
                <a:cs typeface="Cambria"/>
              </a:rPr>
              <a:t>and</a:t>
            </a:r>
            <a:r>
              <a:rPr dirty="0" sz="2550" spc="-35">
                <a:latin typeface="Cambria"/>
                <a:cs typeface="Cambria"/>
              </a:rPr>
              <a:t> </a:t>
            </a:r>
            <a:r>
              <a:rPr dirty="0" sz="2550" spc="-65">
                <a:latin typeface="Cambria"/>
                <a:cs typeface="Cambria"/>
              </a:rPr>
              <a:t>objectives.</a:t>
            </a:r>
            <a:r>
              <a:rPr dirty="0" sz="2550" spc="-55">
                <a:latin typeface="Cambria"/>
                <a:cs typeface="Cambria"/>
              </a:rPr>
              <a:t> </a:t>
            </a:r>
            <a:r>
              <a:rPr dirty="0" sz="2550" spc="-20">
                <a:latin typeface="Cambria"/>
                <a:cs typeface="Cambria"/>
              </a:rPr>
              <a:t>This</a:t>
            </a:r>
            <a:r>
              <a:rPr dirty="0" sz="2550" spc="-120">
                <a:latin typeface="Cambria"/>
                <a:cs typeface="Cambria"/>
              </a:rPr>
              <a:t> </a:t>
            </a:r>
            <a:r>
              <a:rPr dirty="0" sz="2550" spc="-90">
                <a:latin typeface="Cambria"/>
                <a:cs typeface="Cambria"/>
              </a:rPr>
              <a:t>dual-</a:t>
            </a:r>
            <a:r>
              <a:rPr dirty="0" sz="2550" spc="-40">
                <a:latin typeface="Cambria"/>
                <a:cs typeface="Cambria"/>
              </a:rPr>
              <a:t>sided</a:t>
            </a:r>
            <a:r>
              <a:rPr dirty="0" sz="2550" spc="45">
                <a:latin typeface="Cambria"/>
                <a:cs typeface="Cambria"/>
              </a:rPr>
              <a:t> </a:t>
            </a:r>
            <a:r>
              <a:rPr dirty="0" sz="2550" spc="-75">
                <a:latin typeface="Cambria"/>
                <a:cs typeface="Cambria"/>
              </a:rPr>
              <a:t>approach</a:t>
            </a:r>
            <a:r>
              <a:rPr dirty="0" sz="2550" spc="-55">
                <a:latin typeface="Cambria"/>
                <a:cs typeface="Cambria"/>
              </a:rPr>
              <a:t> </a:t>
            </a:r>
            <a:r>
              <a:rPr dirty="0" sz="2550" spc="-80">
                <a:latin typeface="Cambria"/>
                <a:cs typeface="Cambria"/>
              </a:rPr>
              <a:t>creates</a:t>
            </a:r>
            <a:r>
              <a:rPr dirty="0" sz="2550" spc="-65">
                <a:latin typeface="Cambria"/>
                <a:cs typeface="Cambria"/>
              </a:rPr>
              <a:t> </a:t>
            </a:r>
            <a:r>
              <a:rPr dirty="0" sz="2550">
                <a:latin typeface="Cambria"/>
                <a:cs typeface="Cambria"/>
              </a:rPr>
              <a:t>a</a:t>
            </a:r>
            <a:r>
              <a:rPr dirty="0" sz="2550" spc="-140">
                <a:latin typeface="Cambria"/>
                <a:cs typeface="Cambria"/>
              </a:rPr>
              <a:t> </a:t>
            </a:r>
            <a:r>
              <a:rPr dirty="0" sz="2550" spc="-55">
                <a:latin typeface="Cambria"/>
                <a:cs typeface="Cambria"/>
              </a:rPr>
              <a:t>balanced</a:t>
            </a:r>
            <a:r>
              <a:rPr dirty="0" sz="2550" spc="-20">
                <a:latin typeface="Cambria"/>
                <a:cs typeface="Cambria"/>
              </a:rPr>
              <a:t> </a:t>
            </a:r>
            <a:r>
              <a:rPr dirty="0" sz="2550" spc="-40">
                <a:latin typeface="Cambria"/>
                <a:cs typeface="Cambria"/>
              </a:rPr>
              <a:t>and</a:t>
            </a:r>
            <a:r>
              <a:rPr dirty="0" sz="2550" spc="-25">
                <a:latin typeface="Cambria"/>
                <a:cs typeface="Cambria"/>
              </a:rPr>
              <a:t> </a:t>
            </a:r>
            <a:r>
              <a:rPr dirty="0" sz="2550" spc="-75">
                <a:latin typeface="Cambria"/>
                <a:cs typeface="Cambria"/>
              </a:rPr>
              <a:t>sustainable</a:t>
            </a:r>
            <a:r>
              <a:rPr dirty="0" sz="2550" spc="50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economy.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77867" y="4855986"/>
            <a:ext cx="4951730" cy="2052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>
              <a:lnSpc>
                <a:spcPct val="100000"/>
              </a:lnSpc>
              <a:spcBef>
                <a:spcPts val="110"/>
              </a:spcBef>
              <a:tabLst>
                <a:tab pos="1453515" algn="l"/>
              </a:tabLst>
            </a:pPr>
            <a:r>
              <a:rPr dirty="0" sz="3250" spc="-10">
                <a:solidFill>
                  <a:srgbClr val="131313"/>
                </a:solidFill>
                <a:latin typeface="Cambria"/>
                <a:cs typeface="Cambria"/>
              </a:rPr>
              <a:t>Normal</a:t>
            </a:r>
            <a:r>
              <a:rPr dirty="0" sz="3250">
                <a:solidFill>
                  <a:srgbClr val="131313"/>
                </a:solidFill>
                <a:latin typeface="Cambria"/>
                <a:cs typeface="Cambria"/>
              </a:rPr>
              <a:t>	</a:t>
            </a:r>
            <a:r>
              <a:rPr dirty="0" sz="3250" spc="60">
                <a:solidFill>
                  <a:srgbClr val="161616"/>
                </a:solidFill>
                <a:latin typeface="Cambria"/>
                <a:cs typeface="Cambria"/>
              </a:rPr>
              <a:t>Users</a:t>
            </a:r>
            <a:endParaRPr sz="3250">
              <a:latin typeface="Cambria"/>
              <a:cs typeface="Cambria"/>
            </a:endParaRPr>
          </a:p>
          <a:p>
            <a:pPr marL="2002789">
              <a:lnSpc>
                <a:spcPts val="3085"/>
              </a:lnSpc>
              <a:spcBef>
                <a:spcPts val="2600"/>
              </a:spcBef>
            </a:pPr>
            <a:r>
              <a:rPr dirty="0" sz="2600" spc="-10">
                <a:latin typeface="Consolas"/>
                <a:cs typeface="Consolas"/>
              </a:rPr>
              <a:t>Focus:</a:t>
            </a:r>
            <a:endParaRPr sz="2600">
              <a:latin typeface="Consolas"/>
              <a:cs typeface="Consolas"/>
            </a:endParaRPr>
          </a:p>
          <a:p>
            <a:pPr algn="ctr" marL="12065" marR="5080" indent="-2540">
              <a:lnSpc>
                <a:spcPts val="3150"/>
              </a:lnSpc>
              <a:spcBef>
                <a:spcPts val="145"/>
              </a:spcBef>
            </a:pPr>
            <a:r>
              <a:rPr dirty="0" sz="2700" spc="-125">
                <a:latin typeface="Cambria"/>
                <a:cs typeface="Cambria"/>
              </a:rPr>
              <a:t>Gameplay,</a:t>
            </a:r>
            <a:r>
              <a:rPr dirty="0" sz="2700" spc="-10">
                <a:latin typeface="Cambria"/>
                <a:cs typeface="Cambria"/>
              </a:rPr>
              <a:t> </a:t>
            </a:r>
            <a:r>
              <a:rPr dirty="0" sz="2700" spc="-120">
                <a:latin typeface="Cambria"/>
                <a:cs typeface="Cambria"/>
              </a:rPr>
              <a:t>competition.</a:t>
            </a:r>
            <a:r>
              <a:rPr dirty="0" sz="2700" spc="40">
                <a:latin typeface="Cambria"/>
                <a:cs typeface="Cambria"/>
              </a:rPr>
              <a:t> </a:t>
            </a:r>
            <a:r>
              <a:rPr dirty="0" sz="2700" spc="-10">
                <a:latin typeface="Cambria"/>
                <a:cs typeface="Cambria"/>
              </a:rPr>
              <a:t>social </a:t>
            </a:r>
            <a:r>
              <a:rPr dirty="0" sz="2700" spc="-105">
                <a:latin typeface="Cambria"/>
                <a:cs typeface="Cambria"/>
              </a:rPr>
              <a:t>connection,</a:t>
            </a:r>
            <a:r>
              <a:rPr dirty="0" sz="2700" spc="20">
                <a:latin typeface="Cambria"/>
                <a:cs typeface="Cambria"/>
              </a:rPr>
              <a:t> </a:t>
            </a:r>
            <a:r>
              <a:rPr dirty="0" sz="2700" spc="-195">
                <a:latin typeface="Cambria"/>
                <a:cs typeface="Cambria"/>
              </a:rPr>
              <a:t>and</a:t>
            </a:r>
            <a:r>
              <a:rPr dirty="0" sz="2700">
                <a:latin typeface="Cambria"/>
                <a:cs typeface="Cambria"/>
              </a:rPr>
              <a:t> </a:t>
            </a:r>
            <a:r>
              <a:rPr dirty="0" sz="2700" spc="-155">
                <a:latin typeface="Cambria"/>
                <a:cs typeface="Cambria"/>
              </a:rPr>
              <a:t>community</a:t>
            </a:r>
            <a:r>
              <a:rPr dirty="0" sz="2700" spc="60">
                <a:latin typeface="Cambria"/>
                <a:cs typeface="Cambria"/>
              </a:rPr>
              <a:t> </a:t>
            </a:r>
            <a:r>
              <a:rPr dirty="0" sz="2700" spc="-105">
                <a:latin typeface="Cambria"/>
                <a:cs typeface="Cambria"/>
              </a:rPr>
              <a:t>building.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86377" y="7269691"/>
            <a:ext cx="3164205" cy="16306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76045">
              <a:lnSpc>
                <a:spcPts val="3170"/>
              </a:lnSpc>
              <a:spcBef>
                <a:spcPts val="105"/>
              </a:spcBef>
            </a:pPr>
            <a:r>
              <a:rPr dirty="0" sz="2700" spc="-75">
                <a:latin typeface="Cambria"/>
                <a:cs typeface="Cambria"/>
              </a:rPr>
              <a:t>Permissions:</a:t>
            </a:r>
            <a:endParaRPr sz="2700">
              <a:latin typeface="Cambria"/>
              <a:cs typeface="Cambria"/>
            </a:endParaRPr>
          </a:p>
          <a:p>
            <a:pPr marL="271145" indent="-258445">
              <a:lnSpc>
                <a:spcPts val="3150"/>
              </a:lnSpc>
              <a:buChar char="•"/>
              <a:tabLst>
                <a:tab pos="271145" algn="l"/>
              </a:tabLst>
            </a:pPr>
            <a:r>
              <a:rPr dirty="0" sz="2700" spc="-165">
                <a:latin typeface="Cambria"/>
                <a:cs typeface="Cambria"/>
              </a:rPr>
              <a:t>Place/destroy</a:t>
            </a:r>
            <a:r>
              <a:rPr dirty="0" sz="2700" spc="50">
                <a:latin typeface="Cambria"/>
                <a:cs typeface="Cambria"/>
              </a:rPr>
              <a:t> </a:t>
            </a:r>
            <a:r>
              <a:rPr dirty="0" sz="2700" spc="-10">
                <a:latin typeface="Cambria"/>
                <a:cs typeface="Cambria"/>
              </a:rPr>
              <a:t>blocks</a:t>
            </a:r>
            <a:endParaRPr sz="2700">
              <a:latin typeface="Cambria"/>
              <a:cs typeface="Cambria"/>
            </a:endParaRPr>
          </a:p>
          <a:p>
            <a:pPr marL="278765" indent="-266065">
              <a:lnSpc>
                <a:spcPts val="3200"/>
              </a:lnSpc>
              <a:buChar char="•"/>
              <a:tabLst>
                <a:tab pos="278765" algn="l"/>
              </a:tabLst>
            </a:pPr>
            <a:r>
              <a:rPr dirty="0" sz="2700" spc="-180">
                <a:latin typeface="Cambria"/>
                <a:cs typeface="Cambria"/>
              </a:rPr>
              <a:t>Add</a:t>
            </a:r>
            <a:r>
              <a:rPr dirty="0" sz="2700" spc="45">
                <a:latin typeface="Cambria"/>
                <a:cs typeface="Cambria"/>
              </a:rPr>
              <a:t> </a:t>
            </a:r>
            <a:r>
              <a:rPr dirty="0" sz="2700" spc="-25">
                <a:latin typeface="Cambria"/>
                <a:cs typeface="Cambria"/>
              </a:rPr>
              <a:t>friends</a:t>
            </a:r>
            <a:endParaRPr sz="2700">
              <a:latin typeface="Cambria"/>
              <a:cs typeface="Cambria"/>
            </a:endParaRPr>
          </a:p>
          <a:p>
            <a:pPr marL="272415" indent="-259079">
              <a:lnSpc>
                <a:spcPts val="3100"/>
              </a:lnSpc>
              <a:buChar char="•"/>
              <a:tabLst>
                <a:tab pos="272415" algn="l"/>
              </a:tabLst>
            </a:pPr>
            <a:r>
              <a:rPr dirty="0" sz="2600" spc="-65">
                <a:latin typeface="Cambria"/>
                <a:cs typeface="Cambria"/>
              </a:rPr>
              <a:t>Create</a:t>
            </a:r>
            <a:r>
              <a:rPr dirty="0" sz="2600" spc="-35">
                <a:latin typeface="Cambria"/>
                <a:cs typeface="Cambria"/>
              </a:rPr>
              <a:t> </a:t>
            </a:r>
            <a:r>
              <a:rPr dirty="0" sz="2600" spc="-20">
                <a:latin typeface="Cambria"/>
                <a:cs typeface="Cambria"/>
              </a:rPr>
              <a:t>communities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324115" y="4864805"/>
            <a:ext cx="5283835" cy="2041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83185">
              <a:lnSpc>
                <a:spcPct val="100000"/>
              </a:lnSpc>
              <a:spcBef>
                <a:spcPts val="95"/>
              </a:spcBef>
              <a:tabLst>
                <a:tab pos="1212215" algn="l"/>
              </a:tabLst>
            </a:pPr>
            <a:r>
              <a:rPr dirty="0" sz="3200" spc="-10">
                <a:solidFill>
                  <a:srgbClr val="131313"/>
                </a:solidFill>
                <a:latin typeface="Cambria"/>
                <a:cs typeface="Cambria"/>
              </a:rPr>
              <a:t>Brand</a:t>
            </a:r>
            <a:r>
              <a:rPr dirty="0" sz="3200">
                <a:solidFill>
                  <a:srgbClr val="131313"/>
                </a:solidFill>
                <a:latin typeface="Cambria"/>
                <a:cs typeface="Cambria"/>
              </a:rPr>
              <a:t>	</a:t>
            </a:r>
            <a:r>
              <a:rPr dirty="0" sz="3200" spc="90">
                <a:solidFill>
                  <a:srgbClr val="161616"/>
                </a:solidFill>
                <a:latin typeface="Cambria"/>
                <a:cs typeface="Cambria"/>
              </a:rPr>
              <a:t>Users</a:t>
            </a:r>
            <a:endParaRPr sz="3200">
              <a:latin typeface="Cambria"/>
              <a:cs typeface="Cambria"/>
            </a:endParaRPr>
          </a:p>
          <a:p>
            <a:pPr algn="ctr" marR="87630">
              <a:lnSpc>
                <a:spcPct val="100000"/>
              </a:lnSpc>
              <a:spcBef>
                <a:spcPts val="2660"/>
              </a:spcBef>
            </a:pPr>
            <a:r>
              <a:rPr dirty="0" sz="2550" spc="-10">
                <a:latin typeface="Cambria"/>
                <a:cs typeface="Cambria"/>
              </a:rPr>
              <a:t>Focus:</a:t>
            </a:r>
            <a:endParaRPr sz="2550">
              <a:latin typeface="Cambria"/>
              <a:cs typeface="Cambria"/>
            </a:endParaRPr>
          </a:p>
          <a:p>
            <a:pPr algn="ctr" marL="12065" marR="5080">
              <a:lnSpc>
                <a:spcPct val="101000"/>
              </a:lnSpc>
              <a:spcBef>
                <a:spcPts val="5"/>
              </a:spcBef>
            </a:pPr>
            <a:r>
              <a:rPr dirty="0" sz="2600" spc="-90">
                <a:latin typeface="Cambria"/>
                <a:cs typeface="Cambria"/>
              </a:rPr>
              <a:t>Advertising,</a:t>
            </a:r>
            <a:r>
              <a:rPr dirty="0" sz="2600" spc="85">
                <a:latin typeface="Cambria"/>
                <a:cs typeface="Cambria"/>
              </a:rPr>
              <a:t> </a:t>
            </a:r>
            <a:r>
              <a:rPr dirty="0" sz="2600" spc="-85">
                <a:latin typeface="Cambria"/>
                <a:cs typeface="Cambria"/>
              </a:rPr>
              <a:t>public</a:t>
            </a:r>
            <a:r>
              <a:rPr dirty="0" sz="2600" spc="10">
                <a:latin typeface="Cambria"/>
                <a:cs typeface="Cambria"/>
              </a:rPr>
              <a:t> </a:t>
            </a:r>
            <a:r>
              <a:rPr dirty="0" sz="2600" spc="-70">
                <a:latin typeface="Cambria"/>
                <a:cs typeface="Cambria"/>
              </a:rPr>
              <a:t>communication,</a:t>
            </a:r>
            <a:r>
              <a:rPr dirty="0" sz="2600" spc="-75">
                <a:latin typeface="Cambria"/>
                <a:cs typeface="Cambria"/>
              </a:rPr>
              <a:t> </a:t>
            </a:r>
            <a:r>
              <a:rPr dirty="0" sz="2600" spc="-50">
                <a:latin typeface="Cambria"/>
                <a:cs typeface="Cambria"/>
              </a:rPr>
              <a:t>and </a:t>
            </a:r>
            <a:r>
              <a:rPr dirty="0" sz="2600" spc="-120">
                <a:latin typeface="Cambria"/>
                <a:cs typeface="Cambria"/>
              </a:rPr>
              <a:t>brand</a:t>
            </a:r>
            <a:r>
              <a:rPr dirty="0" sz="2600" spc="-10">
                <a:latin typeface="Cambria"/>
                <a:cs typeface="Cambria"/>
              </a:rPr>
              <a:t> presence.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541377" y="7260872"/>
            <a:ext cx="4655820" cy="1639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477010">
              <a:lnSpc>
                <a:spcPct val="100000"/>
              </a:lnSpc>
              <a:spcBef>
                <a:spcPts val="125"/>
              </a:spcBef>
            </a:pPr>
            <a:r>
              <a:rPr dirty="0" sz="2750" spc="-25">
                <a:latin typeface="Cambria"/>
                <a:cs typeface="Cambria"/>
              </a:rPr>
              <a:t>Permissions:</a:t>
            </a:r>
            <a:endParaRPr sz="2750">
              <a:latin typeface="Cambria"/>
              <a:cs typeface="Cambria"/>
            </a:endParaRPr>
          </a:p>
          <a:p>
            <a:pPr marL="259715" indent="-245745">
              <a:lnSpc>
                <a:spcPts val="3055"/>
              </a:lnSpc>
              <a:buChar char="•"/>
              <a:tabLst>
                <a:tab pos="259715" algn="l"/>
              </a:tabLst>
            </a:pPr>
            <a:r>
              <a:rPr dirty="0" sz="2550" spc="-30">
                <a:latin typeface="Cambria"/>
                <a:cs typeface="Cambria"/>
              </a:rPr>
              <a:t>Create</a:t>
            </a:r>
            <a:r>
              <a:rPr dirty="0" sz="2550" spc="-85">
                <a:latin typeface="Cambria"/>
                <a:cs typeface="Cambria"/>
              </a:rPr>
              <a:t> </a:t>
            </a:r>
            <a:r>
              <a:rPr dirty="0" sz="2550" spc="-45">
                <a:latin typeface="Cambria"/>
                <a:cs typeface="Cambria"/>
              </a:rPr>
              <a:t>public</a:t>
            </a:r>
            <a:r>
              <a:rPr dirty="0" sz="2550" spc="-15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messages</a:t>
            </a:r>
            <a:endParaRPr sz="2550">
              <a:latin typeface="Cambria"/>
              <a:cs typeface="Cambria"/>
            </a:endParaRPr>
          </a:p>
          <a:p>
            <a:pPr marL="271145" indent="-258445">
              <a:lnSpc>
                <a:spcPts val="3215"/>
              </a:lnSpc>
              <a:buChar char="•"/>
              <a:tabLst>
                <a:tab pos="271145" algn="l"/>
              </a:tabLst>
            </a:pPr>
            <a:r>
              <a:rPr dirty="0" sz="2700" spc="-175">
                <a:latin typeface="Cambria"/>
                <a:cs typeface="Cambria"/>
              </a:rPr>
              <a:t>Run</a:t>
            </a:r>
            <a:r>
              <a:rPr dirty="0" sz="2700" spc="25">
                <a:latin typeface="Cambria"/>
                <a:cs typeface="Cambria"/>
              </a:rPr>
              <a:t> </a:t>
            </a:r>
            <a:r>
              <a:rPr dirty="0" sz="2700" spc="-160">
                <a:latin typeface="Cambria"/>
                <a:cs typeface="Cambria"/>
              </a:rPr>
              <a:t>targeted</a:t>
            </a:r>
            <a:r>
              <a:rPr dirty="0" sz="2700" spc="70">
                <a:latin typeface="Cambria"/>
                <a:cs typeface="Cambria"/>
              </a:rPr>
              <a:t> </a:t>
            </a:r>
            <a:r>
              <a:rPr dirty="0" sz="2700" spc="-160">
                <a:latin typeface="Cambria"/>
                <a:cs typeface="Cambria"/>
              </a:rPr>
              <a:t>ad</a:t>
            </a:r>
            <a:r>
              <a:rPr dirty="0" sz="2700" spc="-40">
                <a:latin typeface="Cambria"/>
                <a:cs typeface="Cambria"/>
              </a:rPr>
              <a:t> </a:t>
            </a:r>
            <a:r>
              <a:rPr dirty="0" sz="2700" spc="-45">
                <a:latin typeface="Cambria"/>
                <a:cs typeface="Cambria"/>
              </a:rPr>
              <a:t>campaigns</a:t>
            </a:r>
            <a:endParaRPr sz="2700">
              <a:latin typeface="Cambria"/>
              <a:cs typeface="Cambria"/>
            </a:endParaRPr>
          </a:p>
          <a:p>
            <a:pPr marL="259079" indent="-245745">
              <a:lnSpc>
                <a:spcPts val="3100"/>
              </a:lnSpc>
              <a:buChar char="•"/>
              <a:tabLst>
                <a:tab pos="259079" algn="l"/>
              </a:tabLst>
            </a:pPr>
            <a:r>
              <a:rPr dirty="0" sz="2600" spc="-60">
                <a:latin typeface="Cambria"/>
                <a:cs typeface="Cambria"/>
              </a:rPr>
              <a:t>Place</a:t>
            </a:r>
            <a:r>
              <a:rPr dirty="0" sz="2600" spc="-85">
                <a:latin typeface="Cambria"/>
                <a:cs typeface="Cambria"/>
              </a:rPr>
              <a:t> </a:t>
            </a:r>
            <a:r>
              <a:rPr dirty="0" sz="2600" spc="-75">
                <a:latin typeface="Cambria"/>
                <a:cs typeface="Cambria"/>
              </a:rPr>
              <a:t>custom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 spc="-120">
                <a:latin typeface="Cambria"/>
                <a:cs typeface="Cambria"/>
              </a:rPr>
              <a:t>branded</a:t>
            </a:r>
            <a:r>
              <a:rPr dirty="0" sz="2600" spc="40">
                <a:latin typeface="Cambria"/>
                <a:cs typeface="Cambria"/>
              </a:rPr>
              <a:t> </a:t>
            </a:r>
            <a:r>
              <a:rPr dirty="0" sz="2600" spc="-35">
                <a:latin typeface="Cambria"/>
                <a:cs typeface="Cambria"/>
              </a:rPr>
              <a:t>3D</a:t>
            </a:r>
            <a:r>
              <a:rPr dirty="0" sz="2600" spc="-110">
                <a:latin typeface="Cambria"/>
                <a:cs typeface="Cambria"/>
              </a:rPr>
              <a:t> </a:t>
            </a:r>
            <a:r>
              <a:rPr dirty="0" sz="2600" spc="-80">
                <a:latin typeface="Cambria"/>
                <a:cs typeface="Cambria"/>
              </a:rPr>
              <a:t>models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663950" y="9422341"/>
            <a:ext cx="12763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5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347020" y="9422341"/>
            <a:ext cx="979169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95">
                <a:latin typeface="Cambria"/>
                <a:cs typeface="Cambria"/>
              </a:rPr>
              <a:t>NotebookLtVi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1800" y="5016500"/>
            <a:ext cx="6388100" cy="4279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13900" y="1536700"/>
            <a:ext cx="2540000" cy="2590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09500" y="2489200"/>
            <a:ext cx="1143000" cy="6350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33500" y="1219200"/>
            <a:ext cx="2120900" cy="33020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05900" y="5003800"/>
            <a:ext cx="114300" cy="42799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1280" y="709788"/>
            <a:ext cx="6362065" cy="1407795"/>
          </a:xfrm>
          <a:prstGeom prst="rect"/>
        </p:spPr>
        <p:txBody>
          <a:bodyPr wrap="square" lIns="0" tIns="116839" rIns="0" bIns="0" rtlCol="0" vert="horz">
            <a:spAutoFit/>
          </a:bodyPr>
          <a:lstStyle/>
          <a:p>
            <a:pPr marL="23495" marR="5080" indent="-11430">
              <a:lnSpc>
                <a:spcPts val="5050"/>
              </a:lnSpc>
              <a:spcBef>
                <a:spcPts val="919"/>
              </a:spcBef>
            </a:pPr>
            <a:r>
              <a:rPr dirty="0" sz="4850">
                <a:solidFill>
                  <a:srgbClr val="161616"/>
                </a:solidFill>
              </a:rPr>
              <a:t>Monetisation</a:t>
            </a:r>
            <a:r>
              <a:rPr dirty="0" sz="4850" spc="-260">
                <a:solidFill>
                  <a:srgbClr val="161616"/>
                </a:solidFill>
              </a:rPr>
              <a:t> </a:t>
            </a:r>
            <a:r>
              <a:rPr dirty="0" sz="4850" spc="-140">
                <a:solidFill>
                  <a:srgbClr val="161616"/>
                </a:solidFill>
              </a:rPr>
              <a:t>Stream</a:t>
            </a:r>
            <a:r>
              <a:rPr dirty="0" sz="4850" spc="-445">
                <a:solidFill>
                  <a:srgbClr val="161616"/>
                </a:solidFill>
              </a:rPr>
              <a:t> </a:t>
            </a:r>
            <a:r>
              <a:rPr dirty="0" sz="4850" spc="-25">
                <a:solidFill>
                  <a:srgbClr val="181818"/>
                </a:solidFill>
              </a:rPr>
              <a:t>1: </a:t>
            </a:r>
            <a:r>
              <a:rPr dirty="0" sz="4850" spc="-140">
                <a:solidFill>
                  <a:srgbClr val="161616"/>
                </a:solidFill>
              </a:rPr>
              <a:t>Premium</a:t>
            </a:r>
            <a:r>
              <a:rPr dirty="0" sz="4850" spc="-180">
                <a:solidFill>
                  <a:srgbClr val="161616"/>
                </a:solidFill>
              </a:rPr>
              <a:t> </a:t>
            </a:r>
            <a:r>
              <a:rPr dirty="0" sz="4850" spc="-50">
                <a:solidFill>
                  <a:srgbClr val="151515"/>
                </a:solidFill>
              </a:rPr>
              <a:t>Customisation</a:t>
            </a:r>
            <a:endParaRPr sz="4850"/>
          </a:p>
        </p:txBody>
      </p:sp>
      <p:sp>
        <p:nvSpPr>
          <p:cNvPr id="8" name="object 8" descr=""/>
          <p:cNvSpPr txBox="1"/>
          <p:nvPr/>
        </p:nvSpPr>
        <p:spPr>
          <a:xfrm>
            <a:off x="890044" y="2337152"/>
            <a:ext cx="6996430" cy="635317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8415" marR="5080" indent="-6350">
              <a:lnSpc>
                <a:spcPct val="95300"/>
              </a:lnSpc>
              <a:spcBef>
                <a:spcPts val="254"/>
              </a:spcBef>
            </a:pPr>
            <a:r>
              <a:rPr dirty="0" sz="2850" spc="-145">
                <a:latin typeface="Cambria"/>
                <a:cs typeface="Cambria"/>
              </a:rPr>
              <a:t>The</a:t>
            </a:r>
            <a:r>
              <a:rPr dirty="0" sz="2850" spc="-10">
                <a:latin typeface="Cambria"/>
                <a:cs typeface="Cambria"/>
              </a:rPr>
              <a:t> </a:t>
            </a:r>
            <a:r>
              <a:rPr dirty="0" sz="2850" spc="-160">
                <a:latin typeface="Cambria"/>
                <a:cs typeface="Cambria"/>
              </a:rPr>
              <a:t>platform</a:t>
            </a:r>
            <a:r>
              <a:rPr dirty="0" sz="2850" spc="5">
                <a:latin typeface="Cambria"/>
                <a:cs typeface="Cambria"/>
              </a:rPr>
              <a:t> </a:t>
            </a:r>
            <a:r>
              <a:rPr dirty="0" sz="2850" spc="-114">
                <a:latin typeface="Cambria"/>
                <a:cs typeface="Cambria"/>
              </a:rPr>
              <a:t>offers</a:t>
            </a:r>
            <a:r>
              <a:rPr dirty="0" sz="2850" spc="-40">
                <a:latin typeface="Cambria"/>
                <a:cs typeface="Cambria"/>
              </a:rPr>
              <a:t> </a:t>
            </a:r>
            <a:r>
              <a:rPr dirty="0" sz="2850" spc="-145">
                <a:latin typeface="Cambria"/>
                <a:cs typeface="Cambria"/>
              </a:rPr>
              <a:t>a</a:t>
            </a:r>
            <a:r>
              <a:rPr dirty="0" sz="2850" spc="-80">
                <a:latin typeface="Cambria"/>
                <a:cs typeface="Cambria"/>
              </a:rPr>
              <a:t> </a:t>
            </a:r>
            <a:r>
              <a:rPr dirty="0" sz="2850" spc="-130">
                <a:latin typeface="Cambria"/>
                <a:cs typeface="Cambria"/>
              </a:rPr>
              <a:t>free</a:t>
            </a:r>
            <a:r>
              <a:rPr dirty="0" sz="2850" spc="-50">
                <a:latin typeface="Cambria"/>
                <a:cs typeface="Cambria"/>
              </a:rPr>
              <a:t> </a:t>
            </a:r>
            <a:r>
              <a:rPr dirty="0" sz="2850" spc="-135">
                <a:latin typeface="Cambria"/>
                <a:cs typeface="Cambria"/>
              </a:rPr>
              <a:t>usage</a:t>
            </a:r>
            <a:r>
              <a:rPr dirty="0" sz="2850" spc="20">
                <a:latin typeface="Cambria"/>
                <a:cs typeface="Cambria"/>
              </a:rPr>
              <a:t> </a:t>
            </a:r>
            <a:r>
              <a:rPr dirty="0" sz="2850" spc="-170">
                <a:latin typeface="Cambria"/>
                <a:cs typeface="Cambria"/>
              </a:rPr>
              <a:t>period</a:t>
            </a:r>
            <a:r>
              <a:rPr dirty="0" sz="2850" spc="85">
                <a:latin typeface="Cambria"/>
                <a:cs typeface="Cambria"/>
              </a:rPr>
              <a:t> </a:t>
            </a:r>
            <a:r>
              <a:rPr dirty="0" sz="2850" spc="-130">
                <a:latin typeface="Cambria"/>
                <a:cs typeface="Cambria"/>
              </a:rPr>
              <a:t>for</a:t>
            </a:r>
            <a:r>
              <a:rPr dirty="0" sz="2850" spc="-25">
                <a:latin typeface="Cambria"/>
                <a:cs typeface="Cambria"/>
              </a:rPr>
              <a:t> </a:t>
            </a:r>
            <a:r>
              <a:rPr dirty="0" sz="2850" spc="-114">
                <a:latin typeface="Cambria"/>
                <a:cs typeface="Cambria"/>
              </a:rPr>
              <a:t>several </a:t>
            </a:r>
            <a:r>
              <a:rPr dirty="0" sz="2700" spc="-65">
                <a:latin typeface="Cambria"/>
                <a:cs typeface="Cambria"/>
              </a:rPr>
              <a:t>months</a:t>
            </a:r>
            <a:r>
              <a:rPr dirty="0" sz="2700" spc="-7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to</a:t>
            </a:r>
            <a:r>
              <a:rPr dirty="0" sz="2700" spc="-150">
                <a:latin typeface="Cambria"/>
                <a:cs typeface="Cambria"/>
              </a:rPr>
              <a:t> </a:t>
            </a:r>
            <a:r>
              <a:rPr dirty="0" sz="2700" spc="-70">
                <a:latin typeface="Cambria"/>
                <a:cs typeface="Cambria"/>
              </a:rPr>
              <a:t>build</a:t>
            </a:r>
            <a:r>
              <a:rPr dirty="0" sz="2700" spc="-8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a</a:t>
            </a:r>
            <a:r>
              <a:rPr dirty="0" sz="2700" spc="-85">
                <a:latin typeface="Cambria"/>
                <a:cs typeface="Cambria"/>
              </a:rPr>
              <a:t> </a:t>
            </a:r>
            <a:r>
              <a:rPr dirty="0" sz="2700" spc="-55">
                <a:latin typeface="Cambria"/>
                <a:cs typeface="Cambria"/>
              </a:rPr>
              <a:t>strong</a:t>
            </a:r>
            <a:r>
              <a:rPr dirty="0" sz="2700" spc="25">
                <a:latin typeface="Cambria"/>
                <a:cs typeface="Cambria"/>
              </a:rPr>
              <a:t> </a:t>
            </a:r>
            <a:r>
              <a:rPr dirty="0" sz="2700" spc="-75">
                <a:latin typeface="Cambria"/>
                <a:cs typeface="Cambria"/>
              </a:rPr>
              <a:t>user</a:t>
            </a:r>
            <a:r>
              <a:rPr dirty="0" sz="2700" spc="-35">
                <a:latin typeface="Cambria"/>
                <a:cs typeface="Cambria"/>
              </a:rPr>
              <a:t> </a:t>
            </a:r>
            <a:r>
              <a:rPr dirty="0" sz="2700" spc="-60">
                <a:latin typeface="Cambria"/>
                <a:cs typeface="Cambria"/>
              </a:rPr>
              <a:t>base.</a:t>
            </a:r>
            <a:r>
              <a:rPr dirty="0" sz="2700" spc="-90">
                <a:latin typeface="Cambria"/>
                <a:cs typeface="Cambria"/>
              </a:rPr>
              <a:t> </a:t>
            </a:r>
            <a:r>
              <a:rPr dirty="0" sz="2700" spc="-80">
                <a:latin typeface="Cambria"/>
                <a:cs typeface="Cambria"/>
              </a:rPr>
              <a:t>Revenue</a:t>
            </a:r>
            <a:r>
              <a:rPr dirty="0" sz="2700" spc="175">
                <a:latin typeface="Cambria"/>
                <a:cs typeface="Cambria"/>
              </a:rPr>
              <a:t> </a:t>
            </a:r>
            <a:r>
              <a:rPr dirty="0" sz="2700" spc="-25">
                <a:latin typeface="Cambria"/>
                <a:cs typeface="Cambria"/>
              </a:rPr>
              <a:t>is </a:t>
            </a:r>
            <a:r>
              <a:rPr dirty="0" sz="2750" spc="-95">
                <a:latin typeface="Cambria"/>
                <a:cs typeface="Cambria"/>
              </a:rPr>
              <a:t>generated</a:t>
            </a:r>
            <a:r>
              <a:rPr dirty="0" sz="2750" spc="30">
                <a:latin typeface="Cambria"/>
                <a:cs typeface="Cambria"/>
              </a:rPr>
              <a:t> </a:t>
            </a:r>
            <a:r>
              <a:rPr dirty="0" sz="2750" spc="-95">
                <a:latin typeface="Cambria"/>
                <a:cs typeface="Cambria"/>
              </a:rPr>
              <a:t>through</a:t>
            </a:r>
            <a:r>
              <a:rPr dirty="0" sz="2750" spc="-25">
                <a:latin typeface="Cambria"/>
                <a:cs typeface="Cambria"/>
              </a:rPr>
              <a:t> </a:t>
            </a:r>
            <a:r>
              <a:rPr dirty="0" sz="2750" spc="-110">
                <a:latin typeface="Cambria"/>
                <a:cs typeface="Cambria"/>
              </a:rPr>
              <a:t>high-</a:t>
            </a:r>
            <a:r>
              <a:rPr dirty="0" sz="2750" spc="-55">
                <a:latin typeface="Cambria"/>
                <a:cs typeface="Cambria"/>
              </a:rPr>
              <a:t>value</a:t>
            </a:r>
            <a:r>
              <a:rPr dirty="0" sz="2750" spc="20">
                <a:latin typeface="Cambria"/>
                <a:cs typeface="Cambria"/>
              </a:rPr>
              <a:t> </a:t>
            </a:r>
            <a:r>
              <a:rPr dirty="0" sz="2750" spc="-40">
                <a:latin typeface="Cambria"/>
                <a:cs typeface="Cambria"/>
              </a:rPr>
              <a:t>customisation </a:t>
            </a:r>
            <a:r>
              <a:rPr dirty="0" sz="2750" spc="-10">
                <a:latin typeface="Cambria"/>
                <a:cs typeface="Cambria"/>
              </a:rPr>
              <a:t>options.</a:t>
            </a:r>
            <a:endParaRPr sz="2750">
              <a:latin typeface="Cambria"/>
              <a:cs typeface="Cambria"/>
            </a:endParaRPr>
          </a:p>
          <a:p>
            <a:pPr marL="22225">
              <a:lnSpc>
                <a:spcPct val="100000"/>
              </a:lnSpc>
              <a:spcBef>
                <a:spcPts val="2650"/>
              </a:spcBef>
            </a:pPr>
            <a:r>
              <a:rPr dirty="0" sz="2900" spc="50">
                <a:latin typeface="Arial MT"/>
                <a:cs typeface="Arial MT"/>
              </a:rPr>
              <a:t>Monetisation</a:t>
            </a:r>
            <a:r>
              <a:rPr dirty="0" sz="2900" spc="10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Mechanics</a:t>
            </a:r>
            <a:endParaRPr sz="2900">
              <a:latin typeface="Arial MT"/>
              <a:cs typeface="Arial MT"/>
            </a:endParaRPr>
          </a:p>
          <a:p>
            <a:pPr marL="24130" marR="52069" indent="-3810">
              <a:lnSpc>
                <a:spcPct val="102899"/>
              </a:lnSpc>
              <a:spcBef>
                <a:spcPts val="2785"/>
              </a:spcBef>
            </a:pPr>
            <a:r>
              <a:rPr dirty="0" sz="2550">
                <a:latin typeface="Arial MT"/>
                <a:cs typeface="Arial MT"/>
              </a:rPr>
              <a:t>Custom</a:t>
            </a:r>
            <a:r>
              <a:rPr dirty="0" sz="2550" spc="-190">
                <a:latin typeface="Arial MT"/>
                <a:cs typeface="Arial MT"/>
              </a:rPr>
              <a:t> </a:t>
            </a:r>
            <a:r>
              <a:rPr dirty="0" sz="2550" spc="-35">
                <a:latin typeface="Arial MT"/>
                <a:cs typeface="Arial MT"/>
              </a:rPr>
              <a:t>3D</a:t>
            </a:r>
            <a:r>
              <a:rPr dirty="0" sz="2550" spc="-18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Models:</a:t>
            </a:r>
            <a:r>
              <a:rPr dirty="0" sz="2550" spc="-18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Both</a:t>
            </a:r>
            <a:r>
              <a:rPr dirty="0" sz="2550" spc="-8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highly</a:t>
            </a:r>
            <a:r>
              <a:rPr dirty="0" sz="2550" spc="10">
                <a:latin typeface="Arial MT"/>
                <a:cs typeface="Arial MT"/>
              </a:rPr>
              <a:t> </a:t>
            </a:r>
            <a:r>
              <a:rPr dirty="0" sz="2550" spc="-25">
                <a:latin typeface="Arial MT"/>
                <a:cs typeface="Arial MT"/>
              </a:rPr>
              <a:t>engaged</a:t>
            </a:r>
            <a:r>
              <a:rPr dirty="0" sz="2550" spc="5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users </a:t>
            </a:r>
            <a:r>
              <a:rPr dirty="0" sz="2550">
                <a:latin typeface="Arial MT"/>
                <a:cs typeface="Arial MT"/>
              </a:rPr>
              <a:t>and</a:t>
            </a:r>
            <a:r>
              <a:rPr dirty="0" sz="2550" spc="-165">
                <a:latin typeface="Arial MT"/>
                <a:cs typeface="Arial MT"/>
              </a:rPr>
              <a:t> </a:t>
            </a:r>
            <a:r>
              <a:rPr dirty="0" sz="2550" spc="-35">
                <a:latin typeface="Arial MT"/>
                <a:cs typeface="Arial MT"/>
              </a:rPr>
              <a:t>brands</a:t>
            </a:r>
            <a:r>
              <a:rPr dirty="0" sz="2550" spc="-20">
                <a:latin typeface="Arial MT"/>
                <a:cs typeface="Arial MT"/>
              </a:rPr>
              <a:t> </a:t>
            </a:r>
            <a:r>
              <a:rPr dirty="0" sz="2550" spc="-85">
                <a:latin typeface="Arial MT"/>
                <a:cs typeface="Arial MT"/>
              </a:rPr>
              <a:t>can</a:t>
            </a:r>
            <a:r>
              <a:rPr dirty="0" sz="2550" spc="-9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pay</a:t>
            </a:r>
            <a:r>
              <a:rPr dirty="0" sz="2550" spc="-4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to</a:t>
            </a:r>
            <a:r>
              <a:rPr dirty="0" sz="2550" spc="-16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import</a:t>
            </a:r>
            <a:r>
              <a:rPr dirty="0" sz="2550" spc="-50">
                <a:latin typeface="Arial MT"/>
                <a:cs typeface="Arial MT"/>
              </a:rPr>
              <a:t> </a:t>
            </a:r>
            <a:r>
              <a:rPr dirty="0" sz="2550" spc="-40">
                <a:latin typeface="Arial MT"/>
                <a:cs typeface="Arial MT"/>
              </a:rPr>
              <a:t>and</a:t>
            </a:r>
            <a:r>
              <a:rPr dirty="0" sz="2550" spc="-135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place</a:t>
            </a:r>
            <a:r>
              <a:rPr dirty="0" sz="2550" spc="-9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unique, custom</a:t>
            </a:r>
            <a:r>
              <a:rPr dirty="0" sz="2550" spc="-95">
                <a:latin typeface="Arial MT"/>
                <a:cs typeface="Arial MT"/>
              </a:rPr>
              <a:t> </a:t>
            </a:r>
            <a:r>
              <a:rPr dirty="0" sz="2550" spc="-85">
                <a:latin typeface="Arial MT"/>
                <a:cs typeface="Arial MT"/>
              </a:rPr>
              <a:t>3D</a:t>
            </a:r>
            <a:r>
              <a:rPr dirty="0" sz="2550" spc="-95">
                <a:latin typeface="Arial MT"/>
                <a:cs typeface="Arial MT"/>
              </a:rPr>
              <a:t> </a:t>
            </a:r>
            <a:r>
              <a:rPr dirty="0" sz="2550" spc="-45">
                <a:latin typeface="Arial MT"/>
                <a:cs typeface="Arial MT"/>
              </a:rPr>
              <a:t>models</a:t>
            </a:r>
            <a:r>
              <a:rPr dirty="0" sz="2550" spc="-9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into</a:t>
            </a:r>
            <a:r>
              <a:rPr dirty="0" sz="2550" spc="-16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the</a:t>
            </a:r>
            <a:r>
              <a:rPr dirty="0" sz="2550" spc="-60">
                <a:latin typeface="Arial MT"/>
                <a:cs typeface="Arial MT"/>
              </a:rPr>
              <a:t> </a:t>
            </a:r>
            <a:r>
              <a:rPr dirty="0" sz="2550" spc="-20">
                <a:latin typeface="Arial MT"/>
                <a:cs typeface="Arial MT"/>
              </a:rPr>
              <a:t>world,</a:t>
            </a:r>
            <a:r>
              <a:rPr dirty="0" sz="2550" spc="-55">
                <a:latin typeface="Arial MT"/>
                <a:cs typeface="Arial MT"/>
              </a:rPr>
              <a:t> </a:t>
            </a:r>
            <a:r>
              <a:rPr dirty="0" sz="2550" spc="-30">
                <a:latin typeface="Arial MT"/>
                <a:cs typeface="Arial MT"/>
              </a:rPr>
              <a:t>moving</a:t>
            </a:r>
            <a:r>
              <a:rPr dirty="0" sz="2550" spc="5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beyond </a:t>
            </a:r>
            <a:r>
              <a:rPr dirty="0" sz="2400">
                <a:latin typeface="Arial MT"/>
                <a:cs typeface="Arial MT"/>
              </a:rPr>
              <a:t>standard</a:t>
            </a:r>
            <a:r>
              <a:rPr dirty="0" sz="2400" spc="3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blocks.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550">
              <a:latin typeface="Arial MT"/>
              <a:cs typeface="Arial MT"/>
            </a:endParaRPr>
          </a:p>
          <a:p>
            <a:pPr marL="27305" marR="60325" indent="-15240">
              <a:lnSpc>
                <a:spcPct val="101299"/>
              </a:lnSpc>
            </a:pPr>
            <a:r>
              <a:rPr dirty="0" sz="2550" spc="-30">
                <a:latin typeface="Arial MT"/>
                <a:cs typeface="Arial MT"/>
              </a:rPr>
              <a:t>Brand</a:t>
            </a:r>
            <a:r>
              <a:rPr dirty="0" sz="2550" spc="-15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Logos:</a:t>
            </a:r>
            <a:r>
              <a:rPr dirty="0" sz="2550" spc="-180">
                <a:latin typeface="Arial MT"/>
                <a:cs typeface="Arial MT"/>
              </a:rPr>
              <a:t> </a:t>
            </a:r>
            <a:r>
              <a:rPr dirty="0" sz="2550" spc="-65">
                <a:latin typeface="Arial MT"/>
                <a:cs typeface="Arial MT"/>
              </a:rPr>
              <a:t>Brands</a:t>
            </a:r>
            <a:r>
              <a:rPr dirty="0" sz="2550" spc="-11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can</a:t>
            </a:r>
            <a:r>
              <a:rPr dirty="0" sz="2550" spc="-17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pay</a:t>
            </a:r>
            <a:r>
              <a:rPr dirty="0" sz="2550" spc="-18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an</a:t>
            </a:r>
            <a:r>
              <a:rPr dirty="0" sz="2550" spc="-75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additional</a:t>
            </a:r>
            <a:r>
              <a:rPr dirty="0" sz="2550" spc="25">
                <a:latin typeface="Arial MT"/>
                <a:cs typeface="Arial MT"/>
              </a:rPr>
              <a:t> </a:t>
            </a:r>
            <a:r>
              <a:rPr dirty="0" sz="2550" spc="-20">
                <a:latin typeface="Arial MT"/>
                <a:cs typeface="Arial MT"/>
              </a:rPr>
              <a:t>fee</a:t>
            </a:r>
            <a:r>
              <a:rPr dirty="0" sz="2550" spc="-130">
                <a:latin typeface="Arial MT"/>
                <a:cs typeface="Arial MT"/>
              </a:rPr>
              <a:t> </a:t>
            </a:r>
            <a:r>
              <a:rPr dirty="0" sz="2550" spc="-25">
                <a:latin typeface="Arial MT"/>
                <a:cs typeface="Arial MT"/>
              </a:rPr>
              <a:t>to </a:t>
            </a:r>
            <a:r>
              <a:rPr dirty="0" sz="2550" spc="-30">
                <a:latin typeface="Arial MT"/>
                <a:cs typeface="Arial MT"/>
              </a:rPr>
              <a:t>place</a:t>
            </a:r>
            <a:r>
              <a:rPr dirty="0" sz="2550" spc="-5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their</a:t>
            </a:r>
            <a:r>
              <a:rPr dirty="0" sz="2550" spc="-1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official</a:t>
            </a:r>
            <a:r>
              <a:rPr dirty="0" sz="2550" spc="-13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logos</a:t>
            </a:r>
            <a:r>
              <a:rPr dirty="0" sz="2550" spc="-25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directly</a:t>
            </a:r>
            <a:r>
              <a:rPr dirty="0" sz="2550" spc="4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onto</a:t>
            </a:r>
            <a:r>
              <a:rPr dirty="0" sz="2550" spc="-140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objects </a:t>
            </a:r>
            <a:r>
              <a:rPr dirty="0" sz="2550">
                <a:latin typeface="Arial MT"/>
                <a:cs typeface="Arial MT"/>
              </a:rPr>
              <a:t>within</a:t>
            </a:r>
            <a:r>
              <a:rPr dirty="0" sz="2550" spc="-180">
                <a:latin typeface="Arial MT"/>
                <a:cs typeface="Arial MT"/>
              </a:rPr>
              <a:t> </a:t>
            </a:r>
            <a:r>
              <a:rPr dirty="0" sz="2550">
                <a:latin typeface="Arial MT"/>
                <a:cs typeface="Arial MT"/>
              </a:rPr>
              <a:t>the</a:t>
            </a:r>
            <a:r>
              <a:rPr dirty="0" sz="2550" spc="-135">
                <a:latin typeface="Arial MT"/>
                <a:cs typeface="Arial MT"/>
              </a:rPr>
              <a:t> </a:t>
            </a:r>
            <a:r>
              <a:rPr dirty="0" sz="2550" spc="-360">
                <a:latin typeface="Arial MT"/>
                <a:cs typeface="Arial MT"/>
              </a:rPr>
              <a:t>AR</a:t>
            </a:r>
            <a:r>
              <a:rPr dirty="0" sz="2550" spc="125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world,</a:t>
            </a:r>
            <a:r>
              <a:rPr dirty="0" sz="2550" spc="-15">
                <a:latin typeface="Arial MT"/>
                <a:cs typeface="Arial MT"/>
              </a:rPr>
              <a:t> </a:t>
            </a:r>
            <a:r>
              <a:rPr dirty="0" sz="2550" spc="-20">
                <a:latin typeface="Arial MT"/>
                <a:cs typeface="Arial MT"/>
              </a:rPr>
              <a:t>creating</a:t>
            </a:r>
            <a:r>
              <a:rPr dirty="0" sz="2550">
                <a:latin typeface="Arial MT"/>
                <a:cs typeface="Arial MT"/>
              </a:rPr>
              <a:t> powerful,</a:t>
            </a:r>
            <a:r>
              <a:rPr dirty="0" sz="2550" spc="-45">
                <a:latin typeface="Arial MT"/>
                <a:cs typeface="Arial MT"/>
              </a:rPr>
              <a:t> </a:t>
            </a:r>
            <a:r>
              <a:rPr dirty="0" sz="2550" spc="-10">
                <a:latin typeface="Arial MT"/>
                <a:cs typeface="Arial MT"/>
              </a:rPr>
              <a:t>native </a:t>
            </a:r>
            <a:r>
              <a:rPr dirty="0" sz="2600" spc="-65">
                <a:latin typeface="Arial MT"/>
                <a:cs typeface="Arial MT"/>
              </a:rPr>
              <a:t>brand</a:t>
            </a:r>
            <a:r>
              <a:rPr dirty="0" sz="2600" spc="-10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impressions.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87135" y="811388"/>
            <a:ext cx="112141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70">
                <a:latin typeface="Arial MT"/>
                <a:cs typeface="Arial MT"/>
              </a:rPr>
              <a:t>BEFORE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437044" y="811388"/>
            <a:ext cx="93980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90">
                <a:latin typeface="Arial MT"/>
                <a:cs typeface="Arial MT"/>
              </a:rPr>
              <a:t>AFTER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NotebaokLM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500" y="1892300"/>
            <a:ext cx="9664700" cy="5765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312" y="624063"/>
            <a:ext cx="6475095" cy="1820545"/>
          </a:xfrm>
          <a:prstGeom prst="rect"/>
        </p:spPr>
        <p:txBody>
          <a:bodyPr wrap="square" lIns="0" tIns="82550" rIns="0" bIns="0" rtlCol="0" vert="horz">
            <a:spAutoFit/>
          </a:bodyPr>
          <a:lstStyle/>
          <a:p>
            <a:pPr marL="24765" marR="5080" indent="-12700">
              <a:lnSpc>
                <a:spcPct val="89800"/>
              </a:lnSpc>
              <a:spcBef>
                <a:spcPts val="650"/>
              </a:spcBef>
            </a:pPr>
            <a:r>
              <a:rPr dirty="0" sz="4200" spc="-35" b="1">
                <a:solidFill>
                  <a:srgbClr val="111111"/>
                </a:solidFill>
                <a:latin typeface="Arial"/>
                <a:cs typeface="Arial"/>
              </a:rPr>
              <a:t>Monetisation</a:t>
            </a:r>
            <a:r>
              <a:rPr dirty="0" sz="4200" spc="-10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4200" spc="-50" b="1">
                <a:solidFill>
                  <a:srgbClr val="111111"/>
                </a:solidFill>
                <a:latin typeface="Arial"/>
                <a:cs typeface="Arial"/>
              </a:rPr>
              <a:t>Stream</a:t>
            </a:r>
            <a:r>
              <a:rPr dirty="0" sz="4200" spc="-2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4200" spc="-25" b="1">
                <a:solidFill>
                  <a:srgbClr val="161616"/>
                </a:solidFill>
                <a:latin typeface="Arial"/>
                <a:cs typeface="Arial"/>
              </a:rPr>
              <a:t>2: </a:t>
            </a:r>
            <a:r>
              <a:rPr dirty="0" sz="4200">
                <a:solidFill>
                  <a:srgbClr val="111111"/>
                </a:solidFill>
              </a:rPr>
              <a:t>Targeted,</a:t>
            </a:r>
            <a:r>
              <a:rPr dirty="0" sz="4200" spc="175">
                <a:solidFill>
                  <a:srgbClr val="111111"/>
                </a:solidFill>
              </a:rPr>
              <a:t> </a:t>
            </a:r>
            <a:r>
              <a:rPr dirty="0" sz="4200" spc="110">
                <a:solidFill>
                  <a:srgbClr val="000000"/>
                </a:solidFill>
              </a:rPr>
              <a:t>Location-</a:t>
            </a:r>
            <a:r>
              <a:rPr dirty="0" sz="4200" spc="125">
                <a:solidFill>
                  <a:srgbClr val="000000"/>
                </a:solidFill>
              </a:rPr>
              <a:t>Based </a:t>
            </a:r>
            <a:r>
              <a:rPr dirty="0" sz="4200" spc="-10" b="1">
                <a:solidFill>
                  <a:srgbClr val="111111"/>
                </a:solidFill>
                <a:latin typeface="Arial"/>
                <a:cs typeface="Arial"/>
              </a:rPr>
              <a:t>Advertising</a:t>
            </a:r>
            <a:endParaRPr sz="4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4366" y="2672291"/>
            <a:ext cx="6671945" cy="6254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2225">
              <a:lnSpc>
                <a:spcPts val="3170"/>
              </a:lnSpc>
              <a:spcBef>
                <a:spcPts val="105"/>
              </a:spcBef>
            </a:pPr>
            <a:r>
              <a:rPr dirty="0" sz="2700" spc="-200">
                <a:latin typeface="Cambria"/>
                <a:cs typeface="Cambria"/>
              </a:rPr>
              <a:t>Brands</a:t>
            </a:r>
            <a:r>
              <a:rPr dirty="0" sz="2700" spc="55">
                <a:latin typeface="Cambria"/>
                <a:cs typeface="Cambria"/>
              </a:rPr>
              <a:t> </a:t>
            </a:r>
            <a:r>
              <a:rPr dirty="0" sz="2700" spc="-225">
                <a:latin typeface="Cambria"/>
                <a:cs typeface="Cambria"/>
              </a:rPr>
              <a:t>and</a:t>
            </a:r>
            <a:r>
              <a:rPr dirty="0" sz="2700" spc="-10">
                <a:latin typeface="Cambria"/>
                <a:cs typeface="Cambria"/>
              </a:rPr>
              <a:t> </a:t>
            </a:r>
            <a:r>
              <a:rPr dirty="0" sz="2700" spc="-185">
                <a:latin typeface="Cambria"/>
                <a:cs typeface="Cambria"/>
              </a:rPr>
              <a:t>companies</a:t>
            </a:r>
            <a:r>
              <a:rPr dirty="0" sz="2700" spc="80">
                <a:latin typeface="Cambria"/>
                <a:cs typeface="Cambria"/>
              </a:rPr>
              <a:t> </a:t>
            </a:r>
            <a:r>
              <a:rPr dirty="0" sz="2700" spc="-130">
                <a:latin typeface="Cambria"/>
                <a:cs typeface="Cambria"/>
              </a:rPr>
              <a:t>can</a:t>
            </a:r>
            <a:r>
              <a:rPr dirty="0" sz="2700" spc="10">
                <a:latin typeface="Cambria"/>
                <a:cs typeface="Cambria"/>
              </a:rPr>
              <a:t> </a:t>
            </a:r>
            <a:r>
              <a:rPr dirty="0" sz="2700" spc="-210">
                <a:latin typeface="Cambria"/>
                <a:cs typeface="Cambria"/>
              </a:rPr>
              <a:t>run</a:t>
            </a:r>
            <a:r>
              <a:rPr dirty="0" sz="2700" spc="60">
                <a:latin typeface="Cambria"/>
                <a:cs typeface="Cambria"/>
              </a:rPr>
              <a:t> </a:t>
            </a:r>
            <a:r>
              <a:rPr dirty="0" sz="2700" spc="-85">
                <a:latin typeface="Cambria"/>
                <a:cs typeface="Cambria"/>
              </a:rPr>
              <a:t>targeted</a:t>
            </a:r>
            <a:endParaRPr sz="2700">
              <a:latin typeface="Cambria"/>
              <a:cs typeface="Cambria"/>
            </a:endParaRPr>
          </a:p>
          <a:p>
            <a:pPr algn="just" marL="22860" marR="5080" indent="-6350">
              <a:lnSpc>
                <a:spcPts val="3100"/>
              </a:lnSpc>
              <a:spcBef>
                <a:spcPts val="150"/>
              </a:spcBef>
            </a:pPr>
            <a:r>
              <a:rPr dirty="0" sz="2700" spc="-175">
                <a:latin typeface="Cambria"/>
                <a:cs typeface="Cambria"/>
              </a:rPr>
              <a:t>advertising</a:t>
            </a:r>
            <a:r>
              <a:rPr dirty="0" sz="2700" spc="25">
                <a:latin typeface="Cambria"/>
                <a:cs typeface="Cambria"/>
              </a:rPr>
              <a:t> </a:t>
            </a:r>
            <a:r>
              <a:rPr dirty="0" sz="2700" spc="-185">
                <a:latin typeface="Cambria"/>
                <a:cs typeface="Cambria"/>
              </a:rPr>
              <a:t>campaigns</a:t>
            </a:r>
            <a:r>
              <a:rPr dirty="0" sz="2700" spc="35">
                <a:latin typeface="Cambria"/>
                <a:cs typeface="Cambria"/>
              </a:rPr>
              <a:t> </a:t>
            </a:r>
            <a:r>
              <a:rPr dirty="0" sz="2700" spc="-155">
                <a:latin typeface="Cambria"/>
                <a:cs typeface="Cambria"/>
              </a:rPr>
              <a:t>directly</a:t>
            </a:r>
            <a:r>
              <a:rPr dirty="0" sz="2700" spc="160">
                <a:latin typeface="Cambria"/>
                <a:cs typeface="Cambria"/>
              </a:rPr>
              <a:t> </a:t>
            </a:r>
            <a:r>
              <a:rPr dirty="0" sz="2700" spc="-200">
                <a:latin typeface="Cambria"/>
                <a:cs typeface="Cambria"/>
              </a:rPr>
              <a:t>within</a:t>
            </a:r>
            <a:r>
              <a:rPr dirty="0" sz="2700" spc="50">
                <a:latin typeface="Cambria"/>
                <a:cs typeface="Cambria"/>
              </a:rPr>
              <a:t> </a:t>
            </a:r>
            <a:r>
              <a:rPr dirty="0" sz="2700" spc="-180">
                <a:latin typeface="Cambria"/>
                <a:cs typeface="Cambria"/>
              </a:rPr>
              <a:t>the</a:t>
            </a:r>
            <a:r>
              <a:rPr dirty="0" sz="2700" spc="30">
                <a:latin typeface="Cambria"/>
                <a:cs typeface="Cambria"/>
              </a:rPr>
              <a:t> </a:t>
            </a:r>
            <a:r>
              <a:rPr dirty="0" sz="2700" spc="-260">
                <a:latin typeface="Cambria"/>
                <a:cs typeface="Cambria"/>
              </a:rPr>
              <a:t>AR</a:t>
            </a:r>
            <a:r>
              <a:rPr dirty="0" sz="2700" spc="110">
                <a:latin typeface="Cambria"/>
                <a:cs typeface="Cambria"/>
              </a:rPr>
              <a:t> </a:t>
            </a:r>
            <a:r>
              <a:rPr dirty="0" sz="2700" spc="-155">
                <a:latin typeface="Cambria"/>
                <a:cs typeface="Cambria"/>
              </a:rPr>
              <a:t>world. </a:t>
            </a:r>
            <a:r>
              <a:rPr dirty="0" sz="2700" spc="-204">
                <a:latin typeface="Cambria"/>
                <a:cs typeface="Cambria"/>
              </a:rPr>
              <a:t>Our</a:t>
            </a:r>
            <a:r>
              <a:rPr dirty="0" sz="2700" spc="55">
                <a:latin typeface="Cambria"/>
                <a:cs typeface="Cambria"/>
              </a:rPr>
              <a:t> </a:t>
            </a:r>
            <a:r>
              <a:rPr dirty="0" sz="2700" spc="-210">
                <a:latin typeface="Cambria"/>
                <a:cs typeface="Cambria"/>
              </a:rPr>
              <a:t>model</a:t>
            </a:r>
            <a:r>
              <a:rPr dirty="0" sz="2700" spc="60">
                <a:latin typeface="Cambria"/>
                <a:cs typeface="Cambria"/>
              </a:rPr>
              <a:t> </a:t>
            </a:r>
            <a:r>
              <a:rPr dirty="0" sz="2700" spc="-210">
                <a:latin typeface="Cambria"/>
                <a:cs typeface="Cambria"/>
              </a:rPr>
              <a:t>ensures</a:t>
            </a:r>
            <a:r>
              <a:rPr dirty="0" sz="2700" spc="60">
                <a:latin typeface="Cambria"/>
                <a:cs typeface="Cambria"/>
              </a:rPr>
              <a:t> </a:t>
            </a:r>
            <a:r>
              <a:rPr dirty="0" sz="2700" spc="-180">
                <a:latin typeface="Cambria"/>
                <a:cs typeface="Cambria"/>
              </a:rPr>
              <a:t>ads</a:t>
            </a:r>
            <a:r>
              <a:rPr dirty="0" sz="2700" spc="30">
                <a:latin typeface="Cambria"/>
                <a:cs typeface="Cambria"/>
              </a:rPr>
              <a:t> </a:t>
            </a:r>
            <a:r>
              <a:rPr dirty="0" sz="2700" spc="-280">
                <a:latin typeface="Cambria"/>
                <a:cs typeface="Cambria"/>
              </a:rPr>
              <a:t>are</a:t>
            </a:r>
            <a:r>
              <a:rPr dirty="0" sz="2700" spc="130">
                <a:latin typeface="Cambria"/>
                <a:cs typeface="Cambria"/>
              </a:rPr>
              <a:t> </a:t>
            </a:r>
            <a:r>
              <a:rPr dirty="0" sz="2700" spc="-150">
                <a:latin typeface="Cambria"/>
                <a:cs typeface="Cambria"/>
              </a:rPr>
              <a:t>effective</a:t>
            </a:r>
            <a:r>
              <a:rPr dirty="0" sz="2700">
                <a:latin typeface="Cambria"/>
                <a:cs typeface="Cambria"/>
              </a:rPr>
              <a:t> </a:t>
            </a:r>
            <a:r>
              <a:rPr dirty="0" sz="2700" spc="-204">
                <a:latin typeface="Cambria"/>
                <a:cs typeface="Cambria"/>
              </a:rPr>
              <a:t>and</a:t>
            </a:r>
            <a:r>
              <a:rPr dirty="0" sz="2700" spc="75">
                <a:latin typeface="Cambria"/>
                <a:cs typeface="Cambria"/>
              </a:rPr>
              <a:t> </a:t>
            </a:r>
            <a:r>
              <a:rPr dirty="0" sz="2700" spc="-195">
                <a:latin typeface="Cambria"/>
                <a:cs typeface="Cambria"/>
              </a:rPr>
              <a:t>relevant</a:t>
            </a:r>
            <a:r>
              <a:rPr dirty="0" sz="2700" spc="190">
                <a:latin typeface="Cambria"/>
                <a:cs typeface="Cambria"/>
              </a:rPr>
              <a:t> </a:t>
            </a:r>
            <a:r>
              <a:rPr dirty="0" sz="2700" spc="-25">
                <a:latin typeface="Cambria"/>
                <a:cs typeface="Cambria"/>
              </a:rPr>
              <a:t>by </a:t>
            </a:r>
            <a:r>
              <a:rPr dirty="0" sz="2700" spc="-170">
                <a:latin typeface="Cambria"/>
                <a:cs typeface="Cambria"/>
              </a:rPr>
              <a:t>tying</a:t>
            </a:r>
            <a:r>
              <a:rPr dirty="0" sz="2700" spc="20">
                <a:latin typeface="Cambria"/>
                <a:cs typeface="Cambria"/>
              </a:rPr>
              <a:t> </a:t>
            </a:r>
            <a:r>
              <a:rPr dirty="0" sz="2700" spc="-220">
                <a:latin typeface="Cambria"/>
                <a:cs typeface="Cambria"/>
              </a:rPr>
              <a:t>them</a:t>
            </a:r>
            <a:r>
              <a:rPr dirty="0" sz="2700" spc="70">
                <a:latin typeface="Cambria"/>
                <a:cs typeface="Cambria"/>
              </a:rPr>
              <a:t> </a:t>
            </a:r>
            <a:r>
              <a:rPr dirty="0" sz="2700" spc="-175">
                <a:latin typeface="Cambria"/>
                <a:cs typeface="Cambria"/>
              </a:rPr>
              <a:t>to</a:t>
            </a:r>
            <a:r>
              <a:rPr dirty="0" sz="2700" spc="-80">
                <a:latin typeface="Cambria"/>
                <a:cs typeface="Cambria"/>
              </a:rPr>
              <a:t> </a:t>
            </a:r>
            <a:r>
              <a:rPr dirty="0" sz="2700" spc="-195">
                <a:latin typeface="Cambria"/>
                <a:cs typeface="Cambria"/>
              </a:rPr>
              <a:t>real-</a:t>
            </a:r>
            <a:r>
              <a:rPr dirty="0" sz="2700" spc="-204">
                <a:latin typeface="Cambria"/>
                <a:cs typeface="Cambria"/>
              </a:rPr>
              <a:t>world</a:t>
            </a:r>
            <a:r>
              <a:rPr dirty="0" sz="2700" spc="190">
                <a:latin typeface="Cambria"/>
                <a:cs typeface="Cambria"/>
              </a:rPr>
              <a:t> </a:t>
            </a:r>
            <a:r>
              <a:rPr dirty="0" sz="2700" spc="-200">
                <a:latin typeface="Cambria"/>
                <a:cs typeface="Cambria"/>
              </a:rPr>
              <a:t>user</a:t>
            </a:r>
            <a:r>
              <a:rPr dirty="0" sz="2700" spc="-70">
                <a:latin typeface="Cambria"/>
                <a:cs typeface="Cambria"/>
              </a:rPr>
              <a:t> </a:t>
            </a:r>
            <a:r>
              <a:rPr dirty="0" sz="2700" spc="-40">
                <a:latin typeface="Cambria"/>
                <a:cs typeface="Cambria"/>
              </a:rPr>
              <a:t>density.</a:t>
            </a:r>
            <a:endParaRPr sz="2700">
              <a:latin typeface="Cambria"/>
              <a:cs typeface="Cambria"/>
            </a:endParaRPr>
          </a:p>
          <a:p>
            <a:pPr algn="just" marL="39370">
              <a:lnSpc>
                <a:spcPct val="100000"/>
              </a:lnSpc>
              <a:spcBef>
                <a:spcPts val="3080"/>
              </a:spcBef>
            </a:pPr>
            <a:r>
              <a:rPr dirty="0" sz="2700" b="1">
                <a:latin typeface="Cambria"/>
                <a:cs typeface="Cambria"/>
              </a:rPr>
              <a:t>How</a:t>
            </a:r>
            <a:r>
              <a:rPr dirty="0" sz="2700" spc="120" b="1">
                <a:latin typeface="Cambria"/>
                <a:cs typeface="Cambria"/>
              </a:rPr>
              <a:t> </a:t>
            </a:r>
            <a:r>
              <a:rPr dirty="0" sz="2700" spc="-80" b="1">
                <a:latin typeface="Cambria"/>
                <a:cs typeface="Cambria"/>
              </a:rPr>
              <a:t>lt</a:t>
            </a:r>
            <a:r>
              <a:rPr dirty="0" sz="2700" spc="25" b="1">
                <a:latin typeface="Cambria"/>
                <a:cs typeface="Cambria"/>
              </a:rPr>
              <a:t> </a:t>
            </a:r>
            <a:r>
              <a:rPr dirty="0" sz="2700" spc="-10" b="1">
                <a:latin typeface="Cambria"/>
                <a:cs typeface="Cambria"/>
              </a:rPr>
              <a:t>Works</a:t>
            </a:r>
            <a:endParaRPr sz="2700">
              <a:latin typeface="Cambria"/>
              <a:cs typeface="Cambria"/>
            </a:endParaRPr>
          </a:p>
          <a:p>
            <a:pPr marL="12700" marR="283210" indent="16510">
              <a:lnSpc>
                <a:spcPct val="95700"/>
              </a:lnSpc>
              <a:spcBef>
                <a:spcPts val="2200"/>
              </a:spcBef>
            </a:pPr>
            <a:r>
              <a:rPr dirty="0" sz="2700" spc="-215">
                <a:latin typeface="Cambria"/>
                <a:cs typeface="Cambria"/>
              </a:rPr>
              <a:t>Ads</a:t>
            </a:r>
            <a:r>
              <a:rPr dirty="0" sz="2700" spc="-35">
                <a:latin typeface="Cambria"/>
                <a:cs typeface="Cambria"/>
              </a:rPr>
              <a:t> </a:t>
            </a:r>
            <a:r>
              <a:rPr dirty="0" sz="2700" spc="-200">
                <a:latin typeface="Cambria"/>
                <a:cs typeface="Cambria"/>
              </a:rPr>
              <a:t>are</a:t>
            </a:r>
            <a:r>
              <a:rPr dirty="0" sz="2700" spc="-85">
                <a:latin typeface="Cambria"/>
                <a:cs typeface="Cambria"/>
              </a:rPr>
              <a:t> </a:t>
            </a:r>
            <a:r>
              <a:rPr dirty="0" sz="2700" spc="-155">
                <a:latin typeface="Cambria"/>
                <a:cs typeface="Cambria"/>
              </a:rPr>
              <a:t>placed</a:t>
            </a:r>
            <a:r>
              <a:rPr dirty="0" sz="2700" spc="80">
                <a:latin typeface="Cambria"/>
                <a:cs typeface="Cambria"/>
              </a:rPr>
              <a:t> </a:t>
            </a:r>
            <a:r>
              <a:rPr dirty="0" sz="2700" spc="-170">
                <a:latin typeface="Cambria"/>
                <a:cs typeface="Cambria"/>
              </a:rPr>
              <a:t>in</a:t>
            </a:r>
            <a:r>
              <a:rPr dirty="0" sz="2700" spc="-20">
                <a:latin typeface="Cambria"/>
                <a:cs typeface="Cambria"/>
              </a:rPr>
              <a:t> </a:t>
            </a:r>
            <a:r>
              <a:rPr dirty="0" sz="2700" spc="-225">
                <a:latin typeface="Cambria"/>
                <a:cs typeface="Cambria"/>
              </a:rPr>
              <a:t>high-</a:t>
            </a:r>
            <a:r>
              <a:rPr dirty="0" sz="2700" spc="-204">
                <a:latin typeface="Cambria"/>
                <a:cs typeface="Cambria"/>
              </a:rPr>
              <a:t>aCtÎVity</a:t>
            </a:r>
            <a:r>
              <a:rPr dirty="0" sz="2700" spc="105">
                <a:latin typeface="Cambria"/>
                <a:cs typeface="Cambria"/>
              </a:rPr>
              <a:t> </a:t>
            </a:r>
            <a:r>
              <a:rPr dirty="0" sz="2700" spc="-130">
                <a:latin typeface="Cambria"/>
                <a:cs typeface="Cambria"/>
              </a:rPr>
              <a:t>cities</a:t>
            </a:r>
            <a:r>
              <a:rPr dirty="0" sz="2700" spc="10">
                <a:latin typeface="Cambria"/>
                <a:cs typeface="Cambria"/>
              </a:rPr>
              <a:t> </a:t>
            </a:r>
            <a:r>
              <a:rPr dirty="0" sz="2700" spc="-25">
                <a:latin typeface="Cambria"/>
                <a:cs typeface="Cambria"/>
              </a:rPr>
              <a:t>and </a:t>
            </a:r>
            <a:r>
              <a:rPr dirty="0" sz="2700" spc="-175">
                <a:latin typeface="Cambria"/>
                <a:cs typeface="Cambria"/>
              </a:rPr>
              <a:t>concentrated</a:t>
            </a:r>
            <a:r>
              <a:rPr dirty="0" sz="2700" spc="190">
                <a:latin typeface="Cambria"/>
                <a:cs typeface="Cambria"/>
              </a:rPr>
              <a:t> </a:t>
            </a:r>
            <a:r>
              <a:rPr dirty="0" sz="2700" spc="-185">
                <a:latin typeface="Cambria"/>
                <a:cs typeface="Cambria"/>
              </a:rPr>
              <a:t>within</a:t>
            </a:r>
            <a:r>
              <a:rPr dirty="0" sz="2700" spc="100">
                <a:latin typeface="Cambria"/>
                <a:cs typeface="Cambria"/>
              </a:rPr>
              <a:t> </a:t>
            </a:r>
            <a:r>
              <a:rPr dirty="0" sz="2700" spc="-195">
                <a:latin typeface="Cambria"/>
                <a:cs typeface="Cambria"/>
              </a:rPr>
              <a:t>the</a:t>
            </a:r>
            <a:r>
              <a:rPr dirty="0" sz="2700" spc="-55">
                <a:latin typeface="Cambria"/>
                <a:cs typeface="Cambria"/>
              </a:rPr>
              <a:t> </a:t>
            </a:r>
            <a:r>
              <a:rPr dirty="0" sz="2700" spc="-155">
                <a:latin typeface="Cambria"/>
                <a:cs typeface="Cambria"/>
              </a:rPr>
              <a:t>data-</a:t>
            </a:r>
            <a:r>
              <a:rPr dirty="0" sz="2700" spc="-145">
                <a:latin typeface="Cambria"/>
                <a:cs typeface="Cambria"/>
              </a:rPr>
              <a:t>identified</a:t>
            </a:r>
            <a:r>
              <a:rPr dirty="0" sz="2700" spc="-55">
                <a:latin typeface="Cambria"/>
                <a:cs typeface="Cambria"/>
              </a:rPr>
              <a:t> </a:t>
            </a:r>
            <a:r>
              <a:rPr dirty="0" sz="2700" spc="-105">
                <a:latin typeface="Cambria"/>
                <a:cs typeface="Cambria"/>
              </a:rPr>
              <a:t>Hotspots. </a:t>
            </a:r>
            <a:r>
              <a:rPr dirty="0" sz="2700" spc="-160">
                <a:latin typeface="Cambria"/>
                <a:cs typeface="Cambria"/>
              </a:rPr>
              <a:t>This</a:t>
            </a:r>
            <a:r>
              <a:rPr dirty="0" sz="2700" spc="-55">
                <a:latin typeface="Cambria"/>
                <a:cs typeface="Cambria"/>
              </a:rPr>
              <a:t> </a:t>
            </a:r>
            <a:r>
              <a:rPr dirty="0" sz="2700" spc="-200">
                <a:latin typeface="Cambria"/>
                <a:cs typeface="Cambria"/>
              </a:rPr>
              <a:t>ensures</a:t>
            </a:r>
            <a:r>
              <a:rPr dirty="0" sz="2700" spc="50">
                <a:latin typeface="Cambria"/>
                <a:cs typeface="Cambria"/>
              </a:rPr>
              <a:t> </a:t>
            </a:r>
            <a:r>
              <a:rPr dirty="0" sz="2700" spc="-185">
                <a:latin typeface="Cambria"/>
                <a:cs typeface="Cambria"/>
              </a:rPr>
              <a:t>that</a:t>
            </a:r>
            <a:r>
              <a:rPr dirty="0" sz="2700" spc="-5">
                <a:latin typeface="Cambria"/>
                <a:cs typeface="Cambria"/>
              </a:rPr>
              <a:t> </a:t>
            </a:r>
            <a:r>
              <a:rPr dirty="0" sz="2700" spc="-175">
                <a:latin typeface="Cambria"/>
                <a:cs typeface="Cambria"/>
              </a:rPr>
              <a:t>advertising</a:t>
            </a:r>
            <a:r>
              <a:rPr dirty="0" sz="2700" spc="140">
                <a:latin typeface="Cambria"/>
                <a:cs typeface="Cambria"/>
              </a:rPr>
              <a:t> </a:t>
            </a:r>
            <a:r>
              <a:rPr dirty="0" sz="2700" spc="-200">
                <a:latin typeface="Cambria"/>
                <a:cs typeface="Cambria"/>
              </a:rPr>
              <a:t>impressions</a:t>
            </a:r>
            <a:r>
              <a:rPr dirty="0" sz="2700" spc="190">
                <a:latin typeface="Cambria"/>
                <a:cs typeface="Cambria"/>
              </a:rPr>
              <a:t> </a:t>
            </a:r>
            <a:r>
              <a:rPr dirty="0" sz="2700" spc="-25">
                <a:latin typeface="Cambria"/>
                <a:cs typeface="Cambria"/>
              </a:rPr>
              <a:t>are </a:t>
            </a:r>
            <a:r>
              <a:rPr dirty="0" sz="2700" spc="-195">
                <a:latin typeface="Cambria"/>
                <a:cs typeface="Cambria"/>
              </a:rPr>
              <a:t>served</a:t>
            </a:r>
            <a:r>
              <a:rPr dirty="0" sz="2700" spc="65">
                <a:latin typeface="Cambria"/>
                <a:cs typeface="Cambria"/>
              </a:rPr>
              <a:t> </a:t>
            </a:r>
            <a:r>
              <a:rPr dirty="0" sz="2700" spc="-254">
                <a:latin typeface="Cambria"/>
                <a:cs typeface="Cambria"/>
              </a:rPr>
              <a:t>where</a:t>
            </a:r>
            <a:r>
              <a:rPr dirty="0" sz="2700" spc="95">
                <a:latin typeface="Cambria"/>
                <a:cs typeface="Cambria"/>
              </a:rPr>
              <a:t> </a:t>
            </a:r>
            <a:r>
              <a:rPr dirty="0" sz="2700" spc="-160">
                <a:latin typeface="Cambria"/>
                <a:cs typeface="Cambria"/>
              </a:rPr>
              <a:t>the</a:t>
            </a:r>
            <a:r>
              <a:rPr dirty="0" sz="2700" spc="-40">
                <a:latin typeface="Cambria"/>
                <a:cs typeface="Cambria"/>
              </a:rPr>
              <a:t> </a:t>
            </a:r>
            <a:r>
              <a:rPr dirty="0" sz="2700" spc="-215">
                <a:latin typeface="Cambria"/>
                <a:cs typeface="Cambria"/>
              </a:rPr>
              <a:t>most</a:t>
            </a:r>
            <a:r>
              <a:rPr dirty="0" sz="2700" spc="150">
                <a:latin typeface="Cambria"/>
                <a:cs typeface="Cambria"/>
              </a:rPr>
              <a:t> </a:t>
            </a:r>
            <a:r>
              <a:rPr dirty="0" sz="2700" spc="-204">
                <a:latin typeface="Cambria"/>
                <a:cs typeface="Cambria"/>
              </a:rPr>
              <a:t>users</a:t>
            </a:r>
            <a:r>
              <a:rPr dirty="0" sz="2700" spc="40">
                <a:latin typeface="Cambria"/>
                <a:cs typeface="Cambria"/>
              </a:rPr>
              <a:t> </a:t>
            </a:r>
            <a:r>
              <a:rPr dirty="0" sz="2700" spc="-225">
                <a:latin typeface="Cambria"/>
                <a:cs typeface="Cambria"/>
              </a:rPr>
              <a:t>are</a:t>
            </a:r>
            <a:r>
              <a:rPr dirty="0" sz="2700" spc="-10">
                <a:latin typeface="Cambria"/>
                <a:cs typeface="Cambria"/>
              </a:rPr>
              <a:t> </a:t>
            </a:r>
            <a:r>
              <a:rPr dirty="0" sz="2700" spc="-75">
                <a:latin typeface="Cambria"/>
                <a:cs typeface="Cambria"/>
              </a:rPr>
              <a:t>physically </a:t>
            </a:r>
            <a:r>
              <a:rPr dirty="0" sz="2700" spc="-175">
                <a:latin typeface="Cambria"/>
                <a:cs typeface="Cambria"/>
              </a:rPr>
              <a:t>present</a:t>
            </a:r>
            <a:r>
              <a:rPr dirty="0" sz="2700" spc="25">
                <a:latin typeface="Cambria"/>
                <a:cs typeface="Cambria"/>
              </a:rPr>
              <a:t> </a:t>
            </a:r>
            <a:r>
              <a:rPr dirty="0" sz="2700" spc="-225">
                <a:latin typeface="Cambria"/>
                <a:cs typeface="Cambria"/>
              </a:rPr>
              <a:t>and</a:t>
            </a:r>
            <a:r>
              <a:rPr dirty="0" sz="2700" spc="20">
                <a:latin typeface="Cambria"/>
                <a:cs typeface="Cambria"/>
              </a:rPr>
              <a:t> </a:t>
            </a:r>
            <a:r>
              <a:rPr dirty="0" sz="2700" spc="-170">
                <a:latin typeface="Cambria"/>
                <a:cs typeface="Cambria"/>
              </a:rPr>
              <a:t>actively</a:t>
            </a:r>
            <a:r>
              <a:rPr dirty="0" sz="2700" spc="20">
                <a:latin typeface="Cambria"/>
                <a:cs typeface="Cambria"/>
              </a:rPr>
              <a:t> </a:t>
            </a:r>
            <a:r>
              <a:rPr dirty="0" sz="2700" spc="-175">
                <a:latin typeface="Cambria"/>
                <a:cs typeface="Cambria"/>
              </a:rPr>
              <a:t>engaged</a:t>
            </a:r>
            <a:r>
              <a:rPr dirty="0" sz="2700" spc="130">
                <a:latin typeface="Cambria"/>
                <a:cs typeface="Cambria"/>
              </a:rPr>
              <a:t> </a:t>
            </a:r>
            <a:r>
              <a:rPr dirty="0" sz="2700" spc="-210">
                <a:latin typeface="Cambria"/>
                <a:cs typeface="Cambria"/>
              </a:rPr>
              <a:t>with</a:t>
            </a:r>
            <a:r>
              <a:rPr dirty="0" sz="2700" spc="60">
                <a:latin typeface="Cambria"/>
                <a:cs typeface="Cambria"/>
              </a:rPr>
              <a:t> </a:t>
            </a:r>
            <a:r>
              <a:rPr dirty="0" sz="2700" spc="-155">
                <a:latin typeface="Cambria"/>
                <a:cs typeface="Cambria"/>
              </a:rPr>
              <a:t>the</a:t>
            </a:r>
            <a:r>
              <a:rPr dirty="0" sz="2700" spc="-135">
                <a:latin typeface="Cambria"/>
                <a:cs typeface="Cambria"/>
              </a:rPr>
              <a:t> </a:t>
            </a:r>
            <a:r>
              <a:rPr dirty="0" sz="2700" spc="-20">
                <a:latin typeface="Cambria"/>
                <a:cs typeface="Cambria"/>
              </a:rPr>
              <a:t>app.</a:t>
            </a:r>
            <a:endParaRPr sz="2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Cambria"/>
              <a:cs typeface="Cambria"/>
            </a:endParaRPr>
          </a:p>
          <a:p>
            <a:pPr marL="15240" marR="742315" indent="17145">
              <a:lnSpc>
                <a:spcPts val="3100"/>
              </a:lnSpc>
            </a:pPr>
            <a:r>
              <a:rPr dirty="0" sz="2700" spc="-120" i="1">
                <a:latin typeface="Cambria"/>
                <a:cs typeface="Cambria"/>
              </a:rPr>
              <a:t>A</a:t>
            </a:r>
            <a:r>
              <a:rPr dirty="0" sz="2700" spc="-105" i="1">
                <a:latin typeface="Cambria"/>
                <a:cs typeface="Cambria"/>
              </a:rPr>
              <a:t> </a:t>
            </a:r>
            <a:r>
              <a:rPr dirty="0" sz="2700" spc="-155" i="1">
                <a:latin typeface="Cambria"/>
                <a:cs typeface="Cambria"/>
              </a:rPr>
              <a:t>highly</a:t>
            </a:r>
            <a:r>
              <a:rPr dirty="0" sz="2700" spc="5" i="1">
                <a:latin typeface="Cambria"/>
                <a:cs typeface="Cambria"/>
              </a:rPr>
              <a:t> </a:t>
            </a:r>
            <a:r>
              <a:rPr dirty="0" sz="2700" spc="-125" i="1">
                <a:latin typeface="Cambria"/>
                <a:cs typeface="Cambria"/>
              </a:rPr>
              <a:t>effective,</a:t>
            </a:r>
            <a:r>
              <a:rPr dirty="0" sz="2700" spc="125" i="1">
                <a:latin typeface="Cambria"/>
                <a:cs typeface="Cambria"/>
              </a:rPr>
              <a:t> </a:t>
            </a:r>
            <a:r>
              <a:rPr dirty="0" sz="2700" spc="-125" i="1">
                <a:latin typeface="Cambria"/>
                <a:cs typeface="Cambria"/>
              </a:rPr>
              <a:t>location-</a:t>
            </a:r>
            <a:r>
              <a:rPr dirty="0" sz="2700" spc="-140" i="1">
                <a:latin typeface="Cambria"/>
                <a:cs typeface="Cambria"/>
              </a:rPr>
              <a:t>based</a:t>
            </a:r>
            <a:r>
              <a:rPr dirty="0" sz="2700" spc="-190" i="1">
                <a:latin typeface="Cambria"/>
                <a:cs typeface="Cambria"/>
              </a:rPr>
              <a:t> </a:t>
            </a:r>
            <a:r>
              <a:rPr dirty="0" sz="2700" spc="-60" i="1">
                <a:latin typeface="Cambria"/>
                <a:cs typeface="Cambria"/>
              </a:rPr>
              <a:t>advertising </a:t>
            </a:r>
            <a:r>
              <a:rPr dirty="0" sz="2700" spc="-170" i="1">
                <a:latin typeface="Cambria"/>
                <a:cs typeface="Cambria"/>
              </a:rPr>
              <a:t>channel</a:t>
            </a:r>
            <a:r>
              <a:rPr dirty="0" sz="2700" spc="20" i="1">
                <a:latin typeface="Cambria"/>
                <a:cs typeface="Cambria"/>
              </a:rPr>
              <a:t> </a:t>
            </a:r>
            <a:r>
              <a:rPr dirty="0" sz="2700" spc="-200" i="1">
                <a:latin typeface="Cambria"/>
                <a:cs typeface="Cambria"/>
              </a:rPr>
              <a:t>that</a:t>
            </a:r>
            <a:r>
              <a:rPr dirty="0" sz="2700" spc="50" i="1">
                <a:latin typeface="Cambria"/>
                <a:cs typeface="Cambria"/>
              </a:rPr>
              <a:t> </a:t>
            </a:r>
            <a:r>
              <a:rPr dirty="0" sz="2700" spc="-170" i="1">
                <a:latin typeface="Cambria"/>
                <a:cs typeface="Cambria"/>
              </a:rPr>
              <a:t>reaches</a:t>
            </a:r>
            <a:r>
              <a:rPr dirty="0" sz="2700" spc="20" i="1">
                <a:latin typeface="Cambria"/>
                <a:cs typeface="Cambria"/>
              </a:rPr>
              <a:t> </a:t>
            </a:r>
            <a:r>
              <a:rPr dirty="0" sz="2700" spc="-150" i="1">
                <a:latin typeface="Cambria"/>
                <a:cs typeface="Cambria"/>
              </a:rPr>
              <a:t>an</a:t>
            </a:r>
            <a:r>
              <a:rPr dirty="0" sz="2700" spc="-140" i="1">
                <a:latin typeface="Cambria"/>
                <a:cs typeface="Cambria"/>
              </a:rPr>
              <a:t> </a:t>
            </a:r>
            <a:r>
              <a:rPr dirty="0" sz="2700" spc="-200">
                <a:latin typeface="Cambria"/>
                <a:cs typeface="Cambria"/>
              </a:rPr>
              <a:t>engaged</a:t>
            </a:r>
            <a:r>
              <a:rPr dirty="0" sz="2700" spc="35">
                <a:latin typeface="Cambria"/>
                <a:cs typeface="Cambria"/>
              </a:rPr>
              <a:t> </a:t>
            </a:r>
            <a:r>
              <a:rPr dirty="0" sz="2700" spc="-180" i="1">
                <a:latin typeface="Cambria"/>
                <a:cs typeface="Cambria"/>
              </a:rPr>
              <a:t>audience</a:t>
            </a:r>
            <a:r>
              <a:rPr dirty="0" sz="2700" spc="165" i="1">
                <a:latin typeface="Cambria"/>
                <a:cs typeface="Cambria"/>
              </a:rPr>
              <a:t> </a:t>
            </a:r>
            <a:r>
              <a:rPr dirty="0" sz="2700" spc="-150" i="1">
                <a:latin typeface="Cambria"/>
                <a:cs typeface="Cambria"/>
              </a:rPr>
              <a:t>in</a:t>
            </a:r>
            <a:r>
              <a:rPr dirty="0" sz="2700" spc="-114" i="1">
                <a:latin typeface="Cambria"/>
                <a:cs typeface="Cambria"/>
              </a:rPr>
              <a:t> </a:t>
            </a:r>
            <a:r>
              <a:rPr dirty="0" sz="2700" spc="-50" i="1">
                <a:latin typeface="Cambria"/>
                <a:cs typeface="Cambria"/>
              </a:rPr>
              <a:t>a </a:t>
            </a:r>
            <a:r>
              <a:rPr dirty="0" sz="2700" spc="-220" i="1">
                <a:latin typeface="Cambria"/>
                <a:cs typeface="Cambria"/>
              </a:rPr>
              <a:t>nobel</a:t>
            </a:r>
            <a:r>
              <a:rPr dirty="0" sz="2700" spc="85" i="1">
                <a:latin typeface="Cambria"/>
                <a:cs typeface="Cambria"/>
              </a:rPr>
              <a:t> </a:t>
            </a:r>
            <a:r>
              <a:rPr dirty="0" sz="2700" spc="-180" i="1">
                <a:latin typeface="Cambria"/>
                <a:cs typeface="Cambria"/>
              </a:rPr>
              <a:t>and</a:t>
            </a:r>
            <a:r>
              <a:rPr dirty="0" sz="2700" spc="-60" i="1">
                <a:latin typeface="Cambria"/>
                <a:cs typeface="Cambria"/>
              </a:rPr>
              <a:t> </a:t>
            </a:r>
            <a:r>
              <a:rPr dirty="0" sz="2700" spc="-204" i="1">
                <a:latin typeface="Cambria"/>
                <a:cs typeface="Cambria"/>
              </a:rPr>
              <a:t>memorable</a:t>
            </a:r>
            <a:r>
              <a:rPr dirty="0" sz="2700" spc="100" i="1">
                <a:latin typeface="Cambria"/>
                <a:cs typeface="Cambria"/>
              </a:rPr>
              <a:t> </a:t>
            </a:r>
            <a:r>
              <a:rPr dirty="0" sz="2700" spc="-20" i="1">
                <a:latin typeface="Cambria"/>
                <a:cs typeface="Cambria"/>
              </a:rPr>
              <a:t>way.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707030" y="9439980"/>
            <a:ext cx="1149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349992" y="9439980"/>
            <a:ext cx="98806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10" b="1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2600" y="2298700"/>
            <a:ext cx="6350000" cy="6388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90855">
              <a:lnSpc>
                <a:spcPts val="5500"/>
              </a:lnSpc>
              <a:spcBef>
                <a:spcPts val="100"/>
              </a:spcBef>
            </a:pPr>
            <a:r>
              <a:rPr dirty="0">
                <a:solidFill>
                  <a:srgbClr val="242424"/>
                </a:solidFill>
              </a:rPr>
              <a:t>The</a:t>
            </a:r>
            <a:r>
              <a:rPr dirty="0" spc="-50">
                <a:solidFill>
                  <a:srgbClr val="242424"/>
                </a:solidFill>
              </a:rPr>
              <a:t> </a:t>
            </a:r>
            <a:r>
              <a:rPr dirty="0" spc="-455"/>
              <a:t>AR</a:t>
            </a:r>
            <a:r>
              <a:rPr dirty="0" spc="-70"/>
              <a:t> </a:t>
            </a:r>
            <a:r>
              <a:rPr dirty="0">
                <a:solidFill>
                  <a:srgbClr val="1D1D1D"/>
                </a:solidFill>
              </a:rPr>
              <a:t>World</a:t>
            </a:r>
            <a:r>
              <a:rPr dirty="0" spc="-295">
                <a:solidFill>
                  <a:srgbClr val="1D1D1D"/>
                </a:solidFill>
              </a:rPr>
              <a:t> </a:t>
            </a:r>
            <a:r>
              <a:rPr dirty="0">
                <a:solidFill>
                  <a:srgbClr val="1C1C1C"/>
                </a:solidFill>
              </a:rPr>
              <a:t>Builder</a:t>
            </a:r>
            <a:r>
              <a:rPr dirty="0" spc="-114">
                <a:solidFill>
                  <a:srgbClr val="1C1C1C"/>
                </a:solidFill>
              </a:rPr>
              <a:t> </a:t>
            </a:r>
            <a:r>
              <a:rPr dirty="0" spc="-10"/>
              <a:t>Flywheel:</a:t>
            </a:r>
          </a:p>
          <a:p>
            <a:pPr algn="ctr" marL="492125">
              <a:lnSpc>
                <a:spcPts val="5620"/>
              </a:lnSpc>
            </a:pPr>
            <a:r>
              <a:rPr dirty="0" sz="5100" spc="-310">
                <a:solidFill>
                  <a:srgbClr val="1D1D1D"/>
                </a:solidFill>
              </a:rPr>
              <a:t>A</a:t>
            </a:r>
            <a:r>
              <a:rPr dirty="0" sz="5100" spc="-95">
                <a:solidFill>
                  <a:srgbClr val="1D1D1D"/>
                </a:solidFill>
              </a:rPr>
              <a:t> </a:t>
            </a:r>
            <a:r>
              <a:rPr dirty="0" sz="5100">
                <a:solidFill>
                  <a:srgbClr val="1C1C1C"/>
                </a:solidFill>
              </a:rPr>
              <a:t>Self-Reinforcing</a:t>
            </a:r>
            <a:r>
              <a:rPr dirty="0" sz="5100" spc="-600">
                <a:solidFill>
                  <a:srgbClr val="1C1C1C"/>
                </a:solidFill>
              </a:rPr>
              <a:t> </a:t>
            </a:r>
            <a:r>
              <a:rPr dirty="0" sz="5100" spc="-10">
                <a:solidFill>
                  <a:srgbClr val="1A1A1A"/>
                </a:solidFill>
              </a:rPr>
              <a:t>Ecosystem</a:t>
            </a:r>
            <a:endParaRPr sz="5100"/>
          </a:p>
        </p:txBody>
      </p:sp>
      <p:sp>
        <p:nvSpPr>
          <p:cNvPr id="4" name="object 4" descr=""/>
          <p:cNvSpPr txBox="1"/>
          <p:nvPr/>
        </p:nvSpPr>
        <p:spPr>
          <a:xfrm>
            <a:off x="1338101" y="3208866"/>
            <a:ext cx="3994785" cy="130175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12700" indent="169545">
              <a:lnSpc>
                <a:spcPct val="100000"/>
              </a:lnSpc>
              <a:spcBef>
                <a:spcPts val="430"/>
              </a:spcBef>
            </a:pPr>
            <a:r>
              <a:rPr dirty="0" sz="2050">
                <a:latin typeface="Arial MT"/>
                <a:cs typeface="Arial MT"/>
              </a:rPr>
              <a:t>4.</a:t>
            </a:r>
            <a:r>
              <a:rPr dirty="0" sz="2050" spc="-195">
                <a:latin typeface="Arial MT"/>
                <a:cs typeface="Arial MT"/>
              </a:rPr>
              <a:t> </a:t>
            </a:r>
            <a:r>
              <a:rPr dirty="0" sz="2050" spc="-25">
                <a:latin typeface="Arial MT"/>
                <a:cs typeface="Arial MT"/>
              </a:rPr>
              <a:t>Revenue</a:t>
            </a:r>
            <a:r>
              <a:rPr dirty="0" sz="2050" spc="-3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Enhances</a:t>
            </a:r>
            <a:r>
              <a:rPr dirty="0" sz="2050" spc="4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the</a:t>
            </a:r>
            <a:r>
              <a:rPr dirty="0" sz="2050" spc="-80"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World:</a:t>
            </a:r>
            <a:endParaRPr sz="2050">
              <a:latin typeface="Arial MT"/>
              <a:cs typeface="Arial MT"/>
            </a:endParaRPr>
          </a:p>
          <a:p>
            <a:pPr algn="just" marL="66675" marR="5080" indent="-54610">
              <a:lnSpc>
                <a:spcPct val="90400"/>
              </a:lnSpc>
              <a:spcBef>
                <a:spcPts val="580"/>
              </a:spcBef>
            </a:pPr>
            <a:r>
              <a:rPr dirty="0" sz="2050" spc="-150">
                <a:latin typeface="Arial MT"/>
                <a:cs typeface="Arial MT"/>
              </a:rPr>
              <a:t>Revenue</a:t>
            </a:r>
            <a:r>
              <a:rPr dirty="0" sz="2050" spc="5">
                <a:latin typeface="Arial MT"/>
                <a:cs typeface="Arial MT"/>
              </a:rPr>
              <a:t> </a:t>
            </a:r>
            <a:r>
              <a:rPr dirty="0" sz="2050" spc="-114">
                <a:latin typeface="Arial MT"/>
                <a:cs typeface="Arial MT"/>
              </a:rPr>
              <a:t>is</a:t>
            </a:r>
            <a:r>
              <a:rPr dirty="0" sz="2050" spc="-25">
                <a:latin typeface="Arial MT"/>
                <a:cs typeface="Arial MT"/>
              </a:rPr>
              <a:t> </a:t>
            </a:r>
            <a:r>
              <a:rPr dirty="0" sz="2050" spc="-55">
                <a:latin typeface="Arial MT"/>
                <a:cs typeface="Arial MT"/>
              </a:rPr>
              <a:t>reinvested</a:t>
            </a:r>
            <a:r>
              <a:rPr dirty="0" sz="2050" spc="-60">
                <a:latin typeface="Arial MT"/>
                <a:cs typeface="Arial MT"/>
              </a:rPr>
              <a:t> </a:t>
            </a:r>
            <a:r>
              <a:rPr dirty="0" sz="2050" spc="-55">
                <a:latin typeface="Arial MT"/>
                <a:cs typeface="Arial MT"/>
              </a:rPr>
              <a:t>to</a:t>
            </a:r>
            <a:r>
              <a:rPr dirty="0" sz="2050" spc="-90">
                <a:latin typeface="Arial MT"/>
                <a:cs typeface="Arial MT"/>
              </a:rPr>
              <a:t> </a:t>
            </a:r>
            <a:r>
              <a:rPr dirty="0" sz="2050" spc="-85">
                <a:latin typeface="Arial MT"/>
                <a:cs typeface="Arial MT"/>
              </a:rPr>
              <a:t>improve</a:t>
            </a:r>
            <a:r>
              <a:rPr dirty="0" sz="2050">
                <a:latin typeface="Arial MT"/>
                <a:cs typeface="Arial MT"/>
              </a:rPr>
              <a:t> </a:t>
            </a:r>
            <a:r>
              <a:rPr dirty="0" sz="2050" spc="-25">
                <a:latin typeface="Arial MT"/>
                <a:cs typeface="Arial MT"/>
              </a:rPr>
              <a:t>the </a:t>
            </a:r>
            <a:r>
              <a:rPr dirty="0" sz="2050" spc="-35">
                <a:latin typeface="Arial MT"/>
                <a:cs typeface="Arial MT"/>
              </a:rPr>
              <a:t>platform</a:t>
            </a:r>
            <a:r>
              <a:rPr dirty="0" sz="2050" spc="-110">
                <a:latin typeface="Arial MT"/>
                <a:cs typeface="Arial MT"/>
              </a:rPr>
              <a:t> </a:t>
            </a:r>
            <a:r>
              <a:rPr dirty="0" sz="2050" spc="-140">
                <a:latin typeface="Arial MT"/>
                <a:cs typeface="Arial MT"/>
              </a:rPr>
              <a:t>and</a:t>
            </a:r>
            <a:r>
              <a:rPr dirty="0" sz="2050">
                <a:latin typeface="Arial MT"/>
                <a:cs typeface="Arial MT"/>
              </a:rPr>
              <a:t> </a:t>
            </a:r>
            <a:r>
              <a:rPr dirty="0" sz="2050" spc="-60">
                <a:latin typeface="Arial MT"/>
                <a:cs typeface="Arial MT"/>
              </a:rPr>
              <a:t>add</a:t>
            </a:r>
            <a:r>
              <a:rPr dirty="0" sz="2050" spc="-90">
                <a:latin typeface="Arial MT"/>
                <a:cs typeface="Arial MT"/>
              </a:rPr>
              <a:t> </a:t>
            </a:r>
            <a:r>
              <a:rPr dirty="0" sz="2050" spc="-60">
                <a:latin typeface="Arial MT"/>
                <a:cs typeface="Arial MT"/>
              </a:rPr>
              <a:t>features,</a:t>
            </a:r>
            <a:r>
              <a:rPr dirty="0" sz="2050">
                <a:latin typeface="Arial MT"/>
                <a:cs typeface="Arial MT"/>
              </a:rPr>
              <a:t> </a:t>
            </a:r>
            <a:r>
              <a:rPr dirty="0" sz="2050" spc="-65">
                <a:latin typeface="Arial MT"/>
                <a:cs typeface="Arial MT"/>
              </a:rPr>
              <a:t>which</a:t>
            </a:r>
            <a:r>
              <a:rPr dirty="0" sz="2050" spc="-75">
                <a:latin typeface="Arial MT"/>
                <a:cs typeface="Arial MT"/>
              </a:rPr>
              <a:t> </a:t>
            </a:r>
            <a:r>
              <a:rPr dirty="0" sz="2050" spc="-25">
                <a:latin typeface="Arial MT"/>
                <a:cs typeface="Arial MT"/>
              </a:rPr>
              <a:t>in </a:t>
            </a:r>
            <a:r>
              <a:rPr dirty="0" sz="2050" spc="-20">
                <a:latin typeface="Arial MT"/>
                <a:cs typeface="Arial MT"/>
              </a:rPr>
              <a:t>turn</a:t>
            </a:r>
            <a:r>
              <a:rPr dirty="0" sz="2050" spc="-105">
                <a:latin typeface="Arial MT"/>
                <a:cs typeface="Arial MT"/>
              </a:rPr>
              <a:t> </a:t>
            </a:r>
            <a:r>
              <a:rPr dirty="0" sz="2050" spc="-160">
                <a:latin typeface="Arial MT"/>
                <a:cs typeface="Arial MT"/>
              </a:rPr>
              <a:t>attFaEts</a:t>
            </a:r>
            <a:r>
              <a:rPr dirty="0" sz="2050" spc="25">
                <a:latin typeface="Arial MT"/>
                <a:cs typeface="Arial MT"/>
              </a:rPr>
              <a:t> </a:t>
            </a:r>
            <a:r>
              <a:rPr dirty="0" sz="2050" spc="-110">
                <a:latin typeface="Arial MT"/>
                <a:cs typeface="Arial MT"/>
              </a:rPr>
              <a:t>and</a:t>
            </a:r>
            <a:r>
              <a:rPr dirty="0" sz="2050" spc="-65">
                <a:latin typeface="Arial MT"/>
                <a:cs typeface="Arial MT"/>
              </a:rPr>
              <a:t> </a:t>
            </a:r>
            <a:r>
              <a:rPr dirty="0" sz="2050" spc="-60">
                <a:latin typeface="Arial MT"/>
                <a:cs typeface="Arial MT"/>
              </a:rPr>
              <a:t>retains</a:t>
            </a:r>
            <a:r>
              <a:rPr dirty="0" sz="2050">
                <a:latin typeface="Arial MT"/>
                <a:cs typeface="Arial MT"/>
              </a:rPr>
              <a:t> </a:t>
            </a:r>
            <a:r>
              <a:rPr dirty="0" sz="2050" spc="-110">
                <a:latin typeface="Arial MT"/>
                <a:cs typeface="Arial MT"/>
              </a:rPr>
              <a:t>more</a:t>
            </a:r>
            <a:r>
              <a:rPr dirty="0" sz="2050" spc="-30">
                <a:latin typeface="Arial MT"/>
                <a:cs typeface="Arial MT"/>
              </a:rPr>
              <a:t> </a:t>
            </a:r>
            <a:r>
              <a:rPr dirty="0" sz="2050" spc="-70">
                <a:latin typeface="Arial MT"/>
                <a:cs typeface="Arial MT"/>
              </a:rPr>
              <a:t>users.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29065" y="6377577"/>
            <a:ext cx="3893185" cy="13131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480"/>
              </a:spcBef>
            </a:pPr>
            <a:r>
              <a:rPr dirty="0" sz="2150" spc="-45">
                <a:latin typeface="Arial MT"/>
                <a:cs typeface="Arial MT"/>
              </a:rPr>
              <a:t>3.</a:t>
            </a:r>
            <a:r>
              <a:rPr dirty="0" sz="2150" spc="-204">
                <a:latin typeface="Arial MT"/>
                <a:cs typeface="Arial MT"/>
              </a:rPr>
              <a:t> </a:t>
            </a:r>
            <a:r>
              <a:rPr dirty="0" sz="2150" spc="-55">
                <a:latin typeface="Arial MT"/>
                <a:cs typeface="Arial MT"/>
              </a:rPr>
              <a:t>Brands</a:t>
            </a:r>
            <a:r>
              <a:rPr dirty="0" sz="2150" spc="-5">
                <a:latin typeface="Arial MT"/>
                <a:cs typeface="Arial MT"/>
              </a:rPr>
              <a:t> </a:t>
            </a:r>
            <a:r>
              <a:rPr dirty="0" sz="2150" spc="-80">
                <a:latin typeface="Arial MT"/>
                <a:cs typeface="Arial MT"/>
              </a:rPr>
              <a:t>Target</a:t>
            </a:r>
            <a:r>
              <a:rPr dirty="0" sz="2150" spc="-75">
                <a:latin typeface="Arial MT"/>
                <a:cs typeface="Arial MT"/>
              </a:rPr>
              <a:t> </a:t>
            </a:r>
            <a:r>
              <a:rPr dirty="0" sz="2150" spc="-10">
                <a:latin typeface="Arial MT"/>
                <a:cs typeface="Arial MT"/>
              </a:rPr>
              <a:t>Hotspots:</a:t>
            </a:r>
            <a:endParaRPr sz="2150">
              <a:latin typeface="Arial MT"/>
              <a:cs typeface="Arial MT"/>
            </a:endParaRPr>
          </a:p>
          <a:p>
            <a:pPr algn="r" marL="294005" marR="8255" indent="-281940">
              <a:lnSpc>
                <a:spcPts val="2200"/>
              </a:lnSpc>
              <a:spcBef>
                <a:spcPts val="610"/>
              </a:spcBef>
            </a:pPr>
            <a:r>
              <a:rPr dirty="0" sz="2000" spc="-70">
                <a:latin typeface="Arial MT"/>
                <a:cs typeface="Arial MT"/>
              </a:rPr>
              <a:t>Brands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80">
                <a:latin typeface="Arial MT"/>
                <a:cs typeface="Arial MT"/>
              </a:rPr>
              <a:t>are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attracted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114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these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40">
                <a:latin typeface="Arial MT"/>
                <a:cs typeface="Arial MT"/>
              </a:rPr>
              <a:t>dense </a:t>
            </a:r>
            <a:r>
              <a:rPr dirty="0" sz="2000" spc="-55">
                <a:latin typeface="Arial MT"/>
                <a:cs typeface="Arial MT"/>
              </a:rPr>
              <a:t>user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hubs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80">
                <a:latin typeface="Arial MT"/>
                <a:cs typeface="Arial MT"/>
              </a:rPr>
              <a:t>and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35">
                <a:latin typeface="Arial MT"/>
                <a:cs typeface="Arial MT"/>
              </a:rPr>
              <a:t>pay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for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advertising</a:t>
            </a:r>
            <a:endParaRPr sz="2000">
              <a:latin typeface="Arial MT"/>
              <a:cs typeface="Arial MT"/>
            </a:endParaRPr>
          </a:p>
          <a:p>
            <a:pPr algn="r" marR="6985">
              <a:lnSpc>
                <a:spcPts val="2160"/>
              </a:lnSpc>
            </a:pPr>
            <a:r>
              <a:rPr dirty="0" sz="2000" spc="-55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custom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content.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125088" y="3198429"/>
            <a:ext cx="4123054" cy="102489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050" spc="-100">
                <a:latin typeface="Arial MT"/>
                <a:cs typeface="Arial MT"/>
              </a:rPr>
              <a:t>1.</a:t>
            </a:r>
            <a:r>
              <a:rPr dirty="0" sz="2050" spc="-135"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Engaged</a:t>
            </a:r>
            <a:r>
              <a:rPr dirty="0" sz="2050" spc="-135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Users</a:t>
            </a:r>
            <a:r>
              <a:rPr dirty="0" sz="2050" spc="-70">
                <a:latin typeface="Arial MT"/>
                <a:cs typeface="Arial MT"/>
              </a:rPr>
              <a:t> </a:t>
            </a:r>
            <a:r>
              <a:rPr dirty="0" sz="2050">
                <a:latin typeface="Arial MT"/>
                <a:cs typeface="Arial MT"/>
              </a:rPr>
              <a:t>Play</a:t>
            </a:r>
            <a:r>
              <a:rPr dirty="0" sz="2050" spc="-35">
                <a:latin typeface="Arial MT"/>
                <a:cs typeface="Arial MT"/>
              </a:rPr>
              <a:t> </a:t>
            </a:r>
            <a:r>
              <a:rPr dirty="0" sz="2050" spc="-185">
                <a:latin typeface="Arial MT"/>
                <a:cs typeface="Arial MT"/>
              </a:rPr>
              <a:t>&amp;</a:t>
            </a:r>
            <a:r>
              <a:rPr dirty="0" sz="2050" spc="-30">
                <a:latin typeface="Arial MT"/>
                <a:cs typeface="Arial MT"/>
              </a:rPr>
              <a:t> </a:t>
            </a:r>
            <a:r>
              <a:rPr dirty="0" sz="2050" spc="-10">
                <a:latin typeface="Arial MT"/>
                <a:cs typeface="Arial MT"/>
              </a:rPr>
              <a:t>Build:</a:t>
            </a:r>
            <a:endParaRPr sz="2050">
              <a:latin typeface="Arial MT"/>
              <a:cs typeface="Arial MT"/>
            </a:endParaRPr>
          </a:p>
          <a:p>
            <a:pPr marL="31115" marR="5080" indent="-10160">
              <a:lnSpc>
                <a:spcPts val="2200"/>
              </a:lnSpc>
              <a:spcBef>
                <a:spcPts val="630"/>
              </a:spcBef>
            </a:pPr>
            <a:r>
              <a:rPr dirty="0" sz="2000" spc="-70">
                <a:latin typeface="Arial MT"/>
                <a:cs typeface="Arial MT"/>
              </a:rPr>
              <a:t>Users </a:t>
            </a:r>
            <a:r>
              <a:rPr dirty="0" sz="2000" spc="-40">
                <a:latin typeface="Arial MT"/>
                <a:cs typeface="Arial MT"/>
              </a:rPr>
              <a:t>place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35">
                <a:latin typeface="Arial MT"/>
                <a:cs typeface="Arial MT"/>
              </a:rPr>
              <a:t>blocks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and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form </a:t>
            </a:r>
            <a:r>
              <a:rPr dirty="0" sz="2000" spc="-60">
                <a:latin typeface="Arial MT"/>
                <a:cs typeface="Arial MT"/>
              </a:rPr>
              <a:t>communities,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 spc="-45">
                <a:latin typeface="Arial MT"/>
                <a:cs typeface="Arial MT"/>
              </a:rPr>
              <a:t>creating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3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vibrant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world.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144532" y="6352651"/>
            <a:ext cx="3174365" cy="133794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15875" indent="-3175">
              <a:lnSpc>
                <a:spcPct val="100000"/>
              </a:lnSpc>
              <a:spcBef>
                <a:spcPts val="480"/>
              </a:spcBef>
            </a:pPr>
            <a:r>
              <a:rPr dirty="0" sz="2350" spc="-140">
                <a:latin typeface="Arial MT"/>
                <a:cs typeface="Arial MT"/>
              </a:rPr>
              <a:t>2.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 spc="-80">
                <a:latin typeface="Arial MT"/>
                <a:cs typeface="Arial MT"/>
              </a:rPr>
              <a:t>Activity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175">
                <a:latin typeface="Arial MT"/>
                <a:cs typeface="Arial MT"/>
              </a:rPr>
              <a:t>Generates</a:t>
            </a:r>
            <a:r>
              <a:rPr dirty="0" sz="2350" spc="40">
                <a:latin typeface="Arial MT"/>
                <a:cs typeface="Arial MT"/>
              </a:rPr>
              <a:t> </a:t>
            </a:r>
            <a:r>
              <a:rPr dirty="0" sz="2350" spc="-125">
                <a:latin typeface="Arial MT"/>
                <a:cs typeface="Arial MT"/>
              </a:rPr>
              <a:t>Data:</a:t>
            </a:r>
            <a:endParaRPr sz="2350">
              <a:latin typeface="Arial MT"/>
              <a:cs typeface="Arial MT"/>
            </a:endParaRPr>
          </a:p>
          <a:p>
            <a:pPr algn="just" marL="12700" marR="58419" indent="3175">
              <a:lnSpc>
                <a:spcPts val="2200"/>
              </a:lnSpc>
              <a:spcBef>
                <a:spcPts val="570"/>
              </a:spcBef>
            </a:pPr>
            <a:r>
              <a:rPr dirty="0" sz="2000" spc="-85">
                <a:latin typeface="Arial MT"/>
                <a:cs typeface="Arial MT"/>
              </a:rPr>
              <a:t>This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activity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creates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 spc="-75">
                <a:latin typeface="Arial MT"/>
                <a:cs typeface="Arial MT"/>
              </a:rPr>
              <a:t>valuable </a:t>
            </a:r>
            <a:r>
              <a:rPr dirty="0" sz="2000" spc="-50">
                <a:latin typeface="Arial MT"/>
                <a:cs typeface="Arial MT"/>
              </a:rPr>
              <a:t>data,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identifying</a:t>
            </a:r>
            <a:r>
              <a:rPr dirty="0" sz="2000" spc="-90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Hotspots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of </a:t>
            </a:r>
            <a:r>
              <a:rPr dirty="0" sz="2000" spc="-10">
                <a:latin typeface="Arial MT"/>
                <a:cs typeface="Arial MT"/>
              </a:rPr>
              <a:t>engagement.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47666" y="8982427"/>
            <a:ext cx="1294257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i="1">
                <a:latin typeface="Cambria"/>
                <a:cs typeface="Cambria"/>
              </a:rPr>
              <a:t>’User</a:t>
            </a:r>
            <a:r>
              <a:rPr dirty="0" sz="2200" spc="-50" i="1">
                <a:latin typeface="Cambria"/>
                <a:cs typeface="Cambria"/>
              </a:rPr>
              <a:t> </a:t>
            </a:r>
            <a:r>
              <a:rPr dirty="0" sz="2200" spc="-70">
                <a:latin typeface="Cambria"/>
                <a:cs typeface="Cambria"/>
              </a:rPr>
              <a:t>enqngemenf</a:t>
            </a:r>
            <a:r>
              <a:rPr dirty="0" sz="2200" spc="85">
                <a:latin typeface="Cambria"/>
                <a:cs typeface="Cambria"/>
              </a:rPr>
              <a:t> </a:t>
            </a:r>
            <a:r>
              <a:rPr dirty="0" sz="2200" spc="-25" i="1">
                <a:latin typeface="Cambria"/>
                <a:cs typeface="Cambria"/>
              </a:rPr>
              <a:t>creotes</a:t>
            </a:r>
            <a:r>
              <a:rPr dirty="0" sz="2200" spc="45" i="1">
                <a:latin typeface="Cambria"/>
                <a:cs typeface="Cambria"/>
              </a:rPr>
              <a:t> </a:t>
            </a:r>
            <a:r>
              <a:rPr dirty="0" sz="2200" i="1">
                <a:latin typeface="Cambria"/>
                <a:cs typeface="Cambria"/>
              </a:rPr>
              <a:t>the</a:t>
            </a:r>
            <a:r>
              <a:rPr dirty="0" sz="2200" spc="-30" i="1">
                <a:latin typeface="Cambria"/>
                <a:cs typeface="Cambria"/>
              </a:rPr>
              <a:t> </a:t>
            </a:r>
            <a:r>
              <a:rPr dirty="0" sz="2200" spc="-20" i="1">
                <a:latin typeface="Cambria"/>
                <a:cs typeface="Cambria"/>
              </a:rPr>
              <a:t>dato </a:t>
            </a:r>
            <a:r>
              <a:rPr dirty="0" sz="2200" spc="-25" i="1">
                <a:latin typeface="Cambria"/>
                <a:cs typeface="Cambria"/>
              </a:rPr>
              <a:t>thot</a:t>
            </a:r>
            <a:r>
              <a:rPr dirty="0" sz="2200" spc="5" i="1">
                <a:latin typeface="Cambria"/>
                <a:cs typeface="Cambria"/>
              </a:rPr>
              <a:t> </a:t>
            </a:r>
            <a:r>
              <a:rPr dirty="0" sz="2200" spc="-20" i="1">
                <a:latin typeface="Cambria"/>
                <a:cs typeface="Cambria"/>
              </a:rPr>
              <a:t>drives</a:t>
            </a:r>
            <a:r>
              <a:rPr dirty="0" sz="2200" spc="55" i="1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inortetisution,</a:t>
            </a:r>
            <a:r>
              <a:rPr dirty="0" sz="2200" spc="10">
                <a:latin typeface="Cambria"/>
                <a:cs typeface="Cambria"/>
              </a:rPr>
              <a:t> </a:t>
            </a:r>
            <a:r>
              <a:rPr dirty="0" sz="2200" spc="-55" i="1">
                <a:latin typeface="Cambria"/>
                <a:cs typeface="Cambria"/>
              </a:rPr>
              <a:t>which</a:t>
            </a:r>
            <a:r>
              <a:rPr dirty="0" sz="2200" spc="-65" i="1">
                <a:latin typeface="Cambria"/>
                <a:cs typeface="Cambria"/>
              </a:rPr>
              <a:t> </a:t>
            </a:r>
            <a:r>
              <a:rPr dirty="0" sz="2200" i="1">
                <a:latin typeface="Cambria"/>
                <a:cs typeface="Cambria"/>
              </a:rPr>
              <a:t>funds</a:t>
            </a:r>
            <a:r>
              <a:rPr dirty="0" sz="2200" spc="55" i="1">
                <a:latin typeface="Cambria"/>
                <a:cs typeface="Cambria"/>
              </a:rPr>
              <a:t> </a:t>
            </a:r>
            <a:r>
              <a:rPr dirty="0" sz="2200" i="1">
                <a:latin typeface="Cambria"/>
                <a:cs typeface="Cambria"/>
              </a:rPr>
              <a:t>on</a:t>
            </a:r>
            <a:r>
              <a:rPr dirty="0" sz="2200" spc="-55" i="1">
                <a:latin typeface="Cambria"/>
                <a:cs typeface="Cambria"/>
              </a:rPr>
              <a:t> </a:t>
            </a:r>
            <a:r>
              <a:rPr dirty="0" sz="2200" spc="-50" i="1">
                <a:latin typeface="Cambria"/>
                <a:cs typeface="Cambria"/>
              </a:rPr>
              <a:t>ever-</a:t>
            </a:r>
            <a:r>
              <a:rPr dirty="0" sz="2200" spc="-45" i="1">
                <a:latin typeface="Cambria"/>
                <a:cs typeface="Cambria"/>
              </a:rPr>
              <a:t>improving</a:t>
            </a:r>
            <a:r>
              <a:rPr dirty="0" sz="2200" spc="-75" i="1">
                <a:latin typeface="Cambria"/>
                <a:cs typeface="Cambria"/>
              </a:rPr>
              <a:t> </a:t>
            </a:r>
            <a:r>
              <a:rPr dirty="0" sz="2200" spc="-40" i="1">
                <a:latin typeface="Cambria"/>
                <a:cs typeface="Cambria"/>
              </a:rPr>
              <a:t>platform</a:t>
            </a:r>
            <a:r>
              <a:rPr dirty="0" sz="2200" spc="-5" i="1">
                <a:latin typeface="Cambria"/>
                <a:cs typeface="Cambria"/>
              </a:rPr>
              <a:t> </a:t>
            </a:r>
            <a:r>
              <a:rPr dirty="0" sz="2200" spc="-10" i="1">
                <a:latin typeface="Cambria"/>
                <a:cs typeface="Cambria"/>
              </a:rPr>
              <a:t>experience.”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092200"/>
            <a:ext cx="15494000" cy="56769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391353" y="459669"/>
            <a:ext cx="1068895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95">
                <a:latin typeface="Arial MT"/>
                <a:cs typeface="Arial MT"/>
              </a:rPr>
              <a:t>AR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World</a:t>
            </a:r>
            <a:r>
              <a:rPr dirty="0" sz="2400" spc="-2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Builder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50">
                <a:latin typeface="Arial MT"/>
                <a:cs typeface="Arial MT"/>
              </a:rPr>
              <a:t>is</a:t>
            </a:r>
            <a:r>
              <a:rPr dirty="0" sz="2400" spc="-2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just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45">
                <a:latin typeface="Arial MT"/>
                <a:cs typeface="Arial MT"/>
              </a:rPr>
              <a:t>game. </a:t>
            </a:r>
            <a:r>
              <a:rPr dirty="0" sz="2400" spc="55">
                <a:latin typeface="Arial MT"/>
                <a:cs typeface="Arial MT"/>
              </a:rPr>
              <a:t>It</a:t>
            </a:r>
            <a:r>
              <a:rPr dirty="0" sz="2400" spc="-160">
                <a:latin typeface="Arial MT"/>
                <a:cs typeface="Arial MT"/>
              </a:rPr>
              <a:t> </a:t>
            </a:r>
            <a:r>
              <a:rPr dirty="0" sz="2400" spc="50">
                <a:latin typeface="Arial MT"/>
                <a:cs typeface="Arial MT"/>
              </a:rPr>
              <a:t>is</a:t>
            </a:r>
            <a:r>
              <a:rPr dirty="0" sz="2400" spc="-155">
                <a:latin typeface="Arial MT"/>
                <a:cs typeface="Arial MT"/>
              </a:rPr>
              <a:t> </a:t>
            </a:r>
            <a:r>
              <a:rPr dirty="0" sz="2400" spc="-100">
                <a:latin typeface="Arial MT"/>
                <a:cs typeface="Arial MT"/>
              </a:rPr>
              <a:t>a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living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digital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layer</a:t>
            </a:r>
            <a:r>
              <a:rPr dirty="0" sz="2400" spc="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over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real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world.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61400" y="7059435"/>
            <a:ext cx="7287259" cy="23101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4604">
              <a:lnSpc>
                <a:spcPts val="6400"/>
              </a:lnSpc>
              <a:spcBef>
                <a:spcPts val="110"/>
              </a:spcBef>
              <a:tabLst>
                <a:tab pos="2336165" algn="l"/>
              </a:tabLst>
            </a:pPr>
            <a:r>
              <a:rPr dirty="0" sz="5750" spc="-20">
                <a:latin typeface="Arial MT"/>
                <a:cs typeface="Arial MT"/>
              </a:rPr>
              <a:t>Built</a:t>
            </a:r>
            <a:r>
              <a:rPr dirty="0" sz="5750">
                <a:latin typeface="Arial MT"/>
                <a:cs typeface="Arial MT"/>
              </a:rPr>
              <a:t>	</a:t>
            </a:r>
            <a:r>
              <a:rPr dirty="0" sz="5750" spc="-350">
                <a:latin typeface="Arial MT"/>
                <a:cs typeface="Arial MT"/>
              </a:rPr>
              <a:t>People.</a:t>
            </a:r>
            <a:endParaRPr sz="5750">
              <a:latin typeface="Arial MT"/>
              <a:cs typeface="Arial MT"/>
            </a:endParaRPr>
          </a:p>
          <a:p>
            <a:pPr algn="ctr">
              <a:lnSpc>
                <a:spcPts val="5445"/>
              </a:lnSpc>
              <a:tabLst>
                <a:tab pos="3221990" algn="l"/>
              </a:tabLst>
            </a:pPr>
            <a:r>
              <a:rPr dirty="0" sz="5450" spc="-265">
                <a:latin typeface="Arial MT"/>
                <a:cs typeface="Arial MT"/>
              </a:rPr>
              <a:t>Shaped</a:t>
            </a:r>
            <a:r>
              <a:rPr dirty="0" sz="5450">
                <a:latin typeface="Arial MT"/>
                <a:cs typeface="Arial MT"/>
              </a:rPr>
              <a:t>	</a:t>
            </a:r>
            <a:r>
              <a:rPr dirty="0" sz="5450" spc="-120">
                <a:latin typeface="Arial MT"/>
                <a:cs typeface="Arial MT"/>
              </a:rPr>
              <a:t>Communities.</a:t>
            </a:r>
            <a:endParaRPr sz="5450">
              <a:latin typeface="Arial MT"/>
              <a:cs typeface="Arial MT"/>
            </a:endParaRPr>
          </a:p>
          <a:p>
            <a:pPr algn="ctr" marL="21590">
              <a:lnSpc>
                <a:spcPts val="6125"/>
              </a:lnSpc>
              <a:tabLst>
                <a:tab pos="3589020" algn="l"/>
              </a:tabLst>
            </a:pPr>
            <a:r>
              <a:rPr dirty="0" sz="5600" spc="-300">
                <a:latin typeface="Arial MT"/>
                <a:cs typeface="Arial MT"/>
              </a:rPr>
              <a:t>Powered</a:t>
            </a:r>
            <a:r>
              <a:rPr dirty="0" sz="5600">
                <a:latin typeface="Arial MT"/>
                <a:cs typeface="Arial MT"/>
              </a:rPr>
              <a:t>	</a:t>
            </a:r>
            <a:r>
              <a:rPr dirty="0" sz="5600" spc="-95">
                <a:latin typeface="Arial MT"/>
                <a:cs typeface="Arial MT"/>
              </a:rPr>
              <a:t>Reality.</a:t>
            </a:r>
            <a:endParaRPr sz="5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2026-01-03T15:48:13Z</dcterms:created>
  <dcterms:modified xsi:type="dcterms:W3CDTF">2026-01-03T15:48:13Z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2026-01-03T00:00:00Z</vt:filetime>
  </property>
  <property fmtid="{D5CDD505-2E9C-101B-9397-08002B2CF9AE}" pid="3" name="LastSaved">
    <vt:filetime>2026-01-03T00:00:00Z</vt:filetime>
  </property>
</Properties>
</file>